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7148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164" y="257175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4093" y="257175"/>
            <a:ext cx="953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77684" y="291108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684" y="262533"/>
            <a:ext cx="66626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050" y="603647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 IN SIMPLE TERMS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775097"/>
            <a:ext cx="8343900" cy="61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30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 teams need to stay updated on the fast-changing Haemophilia landscape.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3622" y="1444377"/>
            <a:ext cx="4812432" cy="3118693"/>
          </a:xfrm>
          <a:prstGeom prst="roundRect">
            <a:avLst>
              <a:gd name="adj" fmla="val 2443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494" y="15559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707231" y="1547961"/>
            <a:ext cx="43909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signals are scattered across many sources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5066" y="1767632"/>
            <a:ext cx="2252625" cy="250031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2688" y="1833711"/>
            <a:ext cx="619220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03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 news</a:t>
            </a:r>
            <a:endParaRPr lang="en-US" sz="703" dirty="0"/>
          </a:p>
        </p:txBody>
      </p:sp>
      <p:sp>
        <p:nvSpPr>
          <p:cNvPr id="14" name="Text 12"/>
          <p:cNvSpPr/>
          <p:nvPr/>
        </p:nvSpPr>
        <p:spPr>
          <a:xfrm>
            <a:off x="614363" y="18283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2841985" y="1767632"/>
            <a:ext cx="2252625" cy="250031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17019" y="1833711"/>
            <a:ext cx="552859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03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Trial registries</a:t>
            </a:r>
            <a:endParaRPr lang="en-US" sz="703" dirty="0"/>
          </a:p>
        </p:txBody>
      </p:sp>
      <p:sp>
        <p:nvSpPr>
          <p:cNvPr id="17" name="Text 15"/>
          <p:cNvSpPr/>
          <p:nvPr/>
        </p:nvSpPr>
        <p:spPr>
          <a:xfrm>
            <a:off x="2931282" y="18283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25066" y="2081957"/>
            <a:ext cx="2252625" cy="250031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2148036"/>
            <a:ext cx="738485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03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Congress &amp; events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614363" y="21426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2841985" y="2081957"/>
            <a:ext cx="2252625" cy="250031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03614" y="2148036"/>
            <a:ext cx="699302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03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Publications</a:t>
            </a:r>
            <a:endParaRPr lang="en-US" sz="703" dirty="0"/>
          </a:p>
        </p:txBody>
      </p:sp>
      <p:sp>
        <p:nvSpPr>
          <p:cNvPr id="23" name="Text 21"/>
          <p:cNvSpPr/>
          <p:nvPr/>
        </p:nvSpPr>
        <p:spPr>
          <a:xfrm>
            <a:off x="2931282" y="21426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25066" y="2396282"/>
            <a:ext cx="2252625" cy="250031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0100" y="2462361"/>
            <a:ext cx="750763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03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updates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614363" y="245700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2841985" y="2396282"/>
            <a:ext cx="2252625" cy="250031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117019" y="2462361"/>
            <a:ext cx="888281" cy="14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703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&amp; access voice</a:t>
            </a:r>
            <a:endParaRPr lang="en-US" sz="703" dirty="0"/>
          </a:p>
        </p:txBody>
      </p:sp>
      <p:sp>
        <p:nvSpPr>
          <p:cNvPr id="29" name="Text 27"/>
          <p:cNvSpPr/>
          <p:nvPr/>
        </p:nvSpPr>
        <p:spPr>
          <a:xfrm>
            <a:off x="2931282" y="245700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494" y="2735610"/>
          <a:ext cx="4576688" cy="914400"/>
        </p:xfrm>
        <a:graphic>
          <a:graphicData uri="http://schemas.openxmlformats.org/drawingml/2006/table">
            <a:tbl>
              <a:tblPr/>
              <a:tblGrid>
                <a:gridCol w="2282986"/>
                <a:gridCol w="228298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6B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Current pain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6B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Desired shift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314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Updates are buried in emails, newsletters, and manual trackers. Important signals can be missed or duplicated, delaying awareness and decision-making.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314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An AI-powered dashboard converts external updates into source-linked, prioritized, and actionable intelligence for Novo Nordisk teams.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5337497" y="1444377"/>
            <a:ext cx="3402769" cy="3118693"/>
          </a:xfrm>
          <a:prstGeom prst="roundRect">
            <a:avLst>
              <a:gd name="adj" fmla="val 2443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455369" y="15559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641107" y="1547961"/>
            <a:ext cx="2981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solution should answer four practical questions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58941" y="1767632"/>
            <a:ext cx="3159882" cy="392795"/>
          </a:xfrm>
          <a:prstGeom prst="roundRect">
            <a:avLst>
              <a:gd name="adj" fmla="val 14550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548238" y="1842641"/>
            <a:ext cx="320040" cy="14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56" dirty="0"/>
          </a:p>
        </p:txBody>
      </p:sp>
      <p:sp>
        <p:nvSpPr>
          <p:cNvPr id="36" name="Text 33"/>
          <p:cNvSpPr/>
          <p:nvPr/>
        </p:nvSpPr>
        <p:spPr>
          <a:xfrm>
            <a:off x="5826844" y="1842641"/>
            <a:ext cx="190526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changed?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826844" y="1975470"/>
            <a:ext cx="1755702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 the most relevant Haemophilia updates.</a:t>
            </a:r>
            <a:endParaRPr lang="en-US" sz="619" dirty="0"/>
          </a:p>
        </p:txBody>
      </p:sp>
      <p:sp>
        <p:nvSpPr>
          <p:cNvPr id="38" name="Text 35"/>
          <p:cNvSpPr/>
          <p:nvPr/>
        </p:nvSpPr>
        <p:spPr>
          <a:xfrm>
            <a:off x="5458941" y="2224720"/>
            <a:ext cx="3159882" cy="392795"/>
          </a:xfrm>
          <a:prstGeom prst="roundRect">
            <a:avLst>
              <a:gd name="adj" fmla="val 14550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548238" y="2299729"/>
            <a:ext cx="320040" cy="14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56" dirty="0"/>
          </a:p>
        </p:txBody>
      </p:sp>
      <p:sp>
        <p:nvSpPr>
          <p:cNvPr id="40" name="Text 37"/>
          <p:cNvSpPr/>
          <p:nvPr/>
        </p:nvSpPr>
        <p:spPr>
          <a:xfrm>
            <a:off x="5826844" y="2299729"/>
            <a:ext cx="2557468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does it matter?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826844" y="2432558"/>
            <a:ext cx="243568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Assess potential impact on patients, competitors, the market, and NN.</a:t>
            </a:r>
            <a:endParaRPr lang="en-US" sz="619" dirty="0"/>
          </a:p>
        </p:txBody>
      </p:sp>
      <p:sp>
        <p:nvSpPr>
          <p:cNvPr id="42" name="Text 39"/>
          <p:cNvSpPr/>
          <p:nvPr/>
        </p:nvSpPr>
        <p:spPr>
          <a:xfrm>
            <a:off x="5458941" y="2681808"/>
            <a:ext cx="3159882" cy="392795"/>
          </a:xfrm>
          <a:prstGeom prst="roundRect">
            <a:avLst>
              <a:gd name="adj" fmla="val 14550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548238" y="2756818"/>
            <a:ext cx="320040" cy="14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56" dirty="0"/>
          </a:p>
        </p:txBody>
      </p:sp>
      <p:sp>
        <p:nvSpPr>
          <p:cNvPr id="44" name="Text 41"/>
          <p:cNvSpPr/>
          <p:nvPr/>
        </p:nvSpPr>
        <p:spPr>
          <a:xfrm>
            <a:off x="5826844" y="2756818"/>
            <a:ext cx="1904887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should review it?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826844" y="2889647"/>
            <a:ext cx="181417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 each signal to the right Novo Nordisk function.</a:t>
            </a:r>
            <a:endParaRPr lang="en-US" sz="619" dirty="0"/>
          </a:p>
        </p:txBody>
      </p:sp>
      <p:sp>
        <p:nvSpPr>
          <p:cNvPr id="46" name="Text 43"/>
          <p:cNvSpPr/>
          <p:nvPr/>
        </p:nvSpPr>
        <p:spPr>
          <a:xfrm>
            <a:off x="5458941" y="3138897"/>
            <a:ext cx="3159882" cy="392795"/>
          </a:xfrm>
          <a:prstGeom prst="roundRect">
            <a:avLst>
              <a:gd name="adj" fmla="val 14550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548238" y="3213906"/>
            <a:ext cx="320040" cy="14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56" dirty="0"/>
          </a:p>
        </p:txBody>
      </p:sp>
      <p:sp>
        <p:nvSpPr>
          <p:cNvPr id="48" name="Text 45"/>
          <p:cNvSpPr/>
          <p:nvPr/>
        </p:nvSpPr>
        <p:spPr>
          <a:xfrm>
            <a:off x="5826844" y="3213906"/>
            <a:ext cx="2554069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action is needed?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826844" y="3346735"/>
            <a:ext cx="2432447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Suggest review, monitor, escalate, briefing update, or FAQ preparation.</a:t>
            </a:r>
            <a:endParaRPr lang="en-US" sz="619" dirty="0"/>
          </a:p>
        </p:txBody>
      </p:sp>
      <p:sp>
        <p:nvSpPr>
          <p:cNvPr id="50" name="Text 47"/>
          <p:cNvSpPr/>
          <p:nvPr/>
        </p:nvSpPr>
        <p:spPr>
          <a:xfrm>
            <a:off x="400050" y="4638080"/>
            <a:ext cx="8343900" cy="276820"/>
          </a:xfrm>
          <a:prstGeom prst="roundRect">
            <a:avLst>
              <a:gd name="adj" fmla="val 20645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8"/>
          <p:cNvSpPr/>
          <p:nvPr/>
        </p:nvSpPr>
        <p:spPr>
          <a:xfrm>
            <a:off x="400050" y="4641652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740378" y="4638080"/>
            <a:ext cx="0" cy="27682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00050" y="491132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0766" y="4638080"/>
            <a:ext cx="0" cy="276820"/>
          </a:xfrm>
          <a:prstGeom prst="line">
            <a:avLst/>
          </a:prstGeom>
          <a:noFill/>
          <a:ln w="21431">
            <a:solidFill>
              <a:srgbClr val="00A6E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21494" y="47121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266" dirty="0"/>
          </a:p>
        </p:txBody>
      </p:sp>
      <p:sp>
        <p:nvSpPr>
          <p:cNvPr id="56" name="Text 53"/>
          <p:cNvSpPr/>
          <p:nvPr/>
        </p:nvSpPr>
        <p:spPr>
          <a:xfrm>
            <a:off x="680142" y="4709517"/>
            <a:ext cx="60502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goal —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1205061" y="4709517"/>
            <a:ext cx="7431732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Faster awareness, sharper prioritization, and smarter action for the right teams.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00050" y="4930973"/>
            <a:ext cx="80447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 GBS Hackathon 2026 · Kick-off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8459093" y="4930973"/>
            <a:ext cx="395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08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7148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164" y="257175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4093" y="257175"/>
            <a:ext cx="18368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SCOPE FOR THE HACKATHON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77684" y="291108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684" y="262533"/>
            <a:ext cx="66626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050" y="603647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FOCUSED SCOPE — PILOT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775097"/>
            <a:ext cx="8636000" cy="28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30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Haemophilia within Rare Disease 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30" kern="0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(Pilot)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1086520"/>
            <a:ext cx="7143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dynamic and evolving landscape with multiple treatment approaches, competitors, and future innovations.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1367582"/>
            <a:ext cx="6623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PILOT AREA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950454" y="1292572"/>
            <a:ext cx="1744414" cy="267891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50454" y="1303288"/>
            <a:ext cx="1744414" cy="0"/>
          </a:xfrm>
          <a:prstGeom prst="line">
            <a:avLst/>
          </a:prstGeom>
          <a:noFill/>
          <a:ln w="21431">
            <a:solidFill>
              <a:srgbClr val="0053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1296" y="1292572"/>
            <a:ext cx="0" cy="267891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454" y="1556891"/>
            <a:ext cx="1744414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4025" y="1292572"/>
            <a:ext cx="0" cy="267891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347" y="1371154"/>
            <a:ext cx="1480096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Haemophilia 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7610" y="13693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1911065" y="1377404"/>
            <a:ext cx="676647" cy="125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7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factor VIII deficiency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752018" y="1292572"/>
            <a:ext cx="1707691" cy="267891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752018" y="1303288"/>
            <a:ext cx="1707691" cy="0"/>
          </a:xfrm>
          <a:prstGeom prst="line">
            <a:avLst/>
          </a:prstGeom>
          <a:noFill/>
          <a:ln w="21431">
            <a:solidFill>
              <a:srgbClr val="0053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56137" y="1292572"/>
            <a:ext cx="0" cy="267891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52018" y="1556891"/>
            <a:ext cx="1707691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55590" y="1292572"/>
            <a:ext cx="0" cy="267891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12" y="1371154"/>
            <a:ext cx="5699038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Haemophilia 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59174" y="13693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718210" y="1377404"/>
            <a:ext cx="634343" cy="125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7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factor IX deficiency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03622" y="1635472"/>
            <a:ext cx="1615827" cy="800993"/>
          </a:xfrm>
          <a:prstGeom prst="roundRect">
            <a:avLst>
              <a:gd name="adj" fmla="val 713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5775" y="1710482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5776" y="172048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485775" y="1924794"/>
            <a:ext cx="1538612" cy="20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&amp; emerging treatment approaches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5775" y="2158975"/>
            <a:ext cx="1538612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factor therapies, non-factor therapies, bispecifics, gene therapies, RNAi, etc.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83743" y="1635472"/>
            <a:ext cx="1615939" cy="800993"/>
          </a:xfrm>
          <a:prstGeom prst="roundRect">
            <a:avLst>
              <a:gd name="adj" fmla="val 713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165896" y="1710482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75897" y="172048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2165896" y="1924794"/>
            <a:ext cx="1451632" cy="1039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trial updates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65896" y="2056172"/>
            <a:ext cx="1538730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phases, endpoints, readouts, failures, delays, expansions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63975" y="1635472"/>
            <a:ext cx="1615939" cy="800993"/>
          </a:xfrm>
          <a:prstGeom prst="roundRect">
            <a:avLst>
              <a:gd name="adj" fmla="val 713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46128" y="1710482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56129" y="172048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3846128" y="1924794"/>
            <a:ext cx="1451632" cy="1039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milestones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46128" y="2056172"/>
            <a:ext cx="1538730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approvals, filings, label updates, agency decisions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44207" y="1635472"/>
            <a:ext cx="1615939" cy="800993"/>
          </a:xfrm>
          <a:prstGeom prst="roundRect">
            <a:avLst>
              <a:gd name="adj" fmla="val 713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26360" y="1710482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36362" y="172048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526360" y="1924794"/>
            <a:ext cx="1538730" cy="10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Congress &amp; publication updates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5526360" y="2056172"/>
            <a:ext cx="1538730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ISTH, EAHAD, ASH, peer-reviewed publications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24440" y="1635472"/>
            <a:ext cx="1615827" cy="800993"/>
          </a:xfrm>
          <a:prstGeom prst="roundRect">
            <a:avLst>
              <a:gd name="adj" fmla="val 713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206593" y="1710482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216594" y="172048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7206593" y="1924794"/>
            <a:ext cx="1538612" cy="10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advocacy &amp; access signals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7206593" y="2056172"/>
            <a:ext cx="1538612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themes, access barriers, affordability, QoL insights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03622" y="2500759"/>
            <a:ext cx="1615827" cy="698190"/>
          </a:xfrm>
          <a:prstGeom prst="roundRect">
            <a:avLst>
              <a:gd name="adj" fmla="val 818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5775" y="2575768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5776" y="258577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485775" y="2790081"/>
            <a:ext cx="1538612" cy="10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&amp; off-label narratives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485775" y="2921459"/>
            <a:ext cx="1538612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concerns, off-label use, real-world reports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083743" y="2500759"/>
            <a:ext cx="1615939" cy="698190"/>
          </a:xfrm>
          <a:prstGeom prst="roundRect">
            <a:avLst>
              <a:gd name="adj" fmla="val 818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165896" y="2575768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175897" y="258577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2165896" y="2790081"/>
            <a:ext cx="1538730" cy="10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 &amp; competitor movements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2165896" y="2921459"/>
            <a:ext cx="1538730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launches, early entry, trial failures, strategic shifts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763975" y="2500759"/>
            <a:ext cx="1615939" cy="698190"/>
          </a:xfrm>
          <a:prstGeom prst="roundRect">
            <a:avLst>
              <a:gd name="adj" fmla="val 818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846128" y="2575768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856129" y="258577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3846128" y="2790081"/>
            <a:ext cx="1538730" cy="10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Payer &amp; reimbursement updates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3846128" y="2921459"/>
            <a:ext cx="1538730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coverage decisions, policy changes, pricing signals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44207" y="2500759"/>
            <a:ext cx="1615939" cy="698190"/>
          </a:xfrm>
          <a:prstGeom prst="roundRect">
            <a:avLst>
              <a:gd name="adj" fmla="val 818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26360" y="2575768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536362" y="258577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5526360" y="2790081"/>
            <a:ext cx="1567763" cy="10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Geographic expansion &amp; partnerships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5526360" y="2921459"/>
            <a:ext cx="156776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markets, collaborations, alliances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7124440" y="2500759"/>
            <a:ext cx="1615827" cy="698190"/>
          </a:xfrm>
          <a:prstGeom prst="roundRect">
            <a:avLst>
              <a:gd name="adj" fmla="val 818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7206593" y="2575768"/>
            <a:ext cx="185738" cy="185738"/>
          </a:xfrm>
          <a:prstGeom prst="ellipse">
            <a:avLst/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216594" y="258577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75" name="Text 73"/>
          <p:cNvSpPr/>
          <p:nvPr/>
        </p:nvSpPr>
        <p:spPr>
          <a:xfrm>
            <a:off x="7206593" y="2790081"/>
            <a:ext cx="1538612" cy="10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pipeline &amp; innovations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7206593" y="2921459"/>
            <a:ext cx="1567642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e.g. NXT007 and other next-gen assets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400050" y="3273958"/>
            <a:ext cx="4129088" cy="1101030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400050" y="3284674"/>
            <a:ext cx="4129088" cy="0"/>
          </a:xfrm>
          <a:prstGeom prst="line">
            <a:avLst/>
          </a:prstGeom>
          <a:noFill/>
          <a:ln w="21431">
            <a:solidFill>
              <a:srgbClr val="1F8A4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25566" y="3273958"/>
            <a:ext cx="0" cy="110103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00050" y="4371417"/>
            <a:ext cx="4129088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03622" y="3273958"/>
            <a:ext cx="0" cy="110103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1203" y="3373971"/>
            <a:ext cx="58944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SCOPE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92919" y="337397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8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84" name="Text 82"/>
          <p:cNvSpPr/>
          <p:nvPr/>
        </p:nvSpPr>
        <p:spPr>
          <a:xfrm>
            <a:off x="492919" y="3538277"/>
            <a:ext cx="3943350" cy="82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Haemophilia A and B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publicly available or synthetic external information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Scientific, clinical, regulatory, safety, access, market and patient signals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Competitors with existing and future products (e.g. NXT007 and others)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Signals across the full product and patient journey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Designed to be scalable to other therapy areas in the future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614863" y="3273958"/>
            <a:ext cx="4129088" cy="1101030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Shape 84"/>
          <p:cNvSpPr/>
          <p:nvPr/>
        </p:nvSpPr>
        <p:spPr>
          <a:xfrm>
            <a:off x="4614863" y="3284674"/>
            <a:ext cx="4129088" cy="0"/>
          </a:xfrm>
          <a:prstGeom prst="line">
            <a:avLst/>
          </a:prstGeom>
          <a:noFill/>
          <a:ln w="21431">
            <a:solidFill>
              <a:srgbClr val="B12A2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40378" y="3273958"/>
            <a:ext cx="0" cy="110103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14863" y="4371417"/>
            <a:ext cx="4129088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18434" y="3273958"/>
            <a:ext cx="0" cy="110103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28928" y="3373971"/>
            <a:ext cx="84600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B12A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 OF SCOPE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707731" y="337397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12A2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92" name="Text 90"/>
          <p:cNvSpPr/>
          <p:nvPr/>
        </p:nvSpPr>
        <p:spPr>
          <a:xfrm>
            <a:off x="4707731" y="3538277"/>
            <a:ext cx="3943350" cy="557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B12A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other therapy areas beyond Haemophilia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B12A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Confidential Novo Nordisk strategy or internal data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B12A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Patient-identifiable data</a:t>
            </a:r>
            <a:endParaRPr lang="en-US" sz="800" dirty="0"/>
          </a:p>
          <a:p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B12A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27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Promotional or external-facing content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00050" y="4446426"/>
            <a:ext cx="8343900" cy="382860"/>
          </a:xfrm>
          <a:prstGeom prst="roundRect">
            <a:avLst>
              <a:gd name="adj" fmla="val 14927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500063" y="4552227"/>
            <a:ext cx="514796" cy="171146"/>
          </a:xfrm>
          <a:prstGeom prst="roundRect">
            <a:avLst>
              <a:gd name="adj" fmla="val 2226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405193" y="4561396"/>
            <a:ext cx="704535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b="1" spc="2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OBJECTIVE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072009" y="4517864"/>
            <a:ext cx="591547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a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Haemophilia Intelligence Radar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that detects, interprets, and prioritizes external signals and translates them into actionable insights for Novo Nordisk.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016055" y="4577804"/>
            <a:ext cx="9144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187505" y="4517864"/>
            <a:ext cx="154381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Haemophilia. Build for scale.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400050" y="4930973"/>
            <a:ext cx="80447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 GBS Hackathon 2026 · Kick-off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459093" y="4930973"/>
            <a:ext cx="395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08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7148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164" y="257175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4093" y="257175"/>
            <a:ext cx="15153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EXPECTED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77684" y="291108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684" y="262533"/>
            <a:ext cx="66626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050" y="603647"/>
            <a:ext cx="863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PROTOTYPE SHOULD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775097"/>
            <a:ext cx="8636000" cy="28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30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Haemophilia Intelligence Radar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1086520"/>
            <a:ext cx="7143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Turns external Haemophilia signals into source-linked, prioritized, and actionable insights for the right NN teams.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3622" y="1296144"/>
            <a:ext cx="3163453" cy="3057971"/>
          </a:xfrm>
          <a:prstGeom prst="roundRect">
            <a:avLst>
              <a:gd name="adj" fmla="val 2492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239" y="1392585"/>
            <a:ext cx="757958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pipeline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507206" y="13907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3" name="Shape 11"/>
          <p:cNvSpPr/>
          <p:nvPr/>
        </p:nvSpPr>
        <p:spPr>
          <a:xfrm>
            <a:off x="507206" y="2019337"/>
            <a:ext cx="2956285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07206" y="1646188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206" y="1646188"/>
            <a:ext cx="1893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8663" y="1646188"/>
            <a:ext cx="2734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Ingest &amp; Monitor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28663" y="1763278"/>
            <a:ext cx="2734828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Ingest or simulate public/synthetic data from multiple trusted sources continuously.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206" y="2446065"/>
            <a:ext cx="2956285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07206" y="2072915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206" y="2072915"/>
            <a:ext cx="1893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663" y="2072915"/>
            <a:ext cx="2734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 &amp; Classify Signals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8663" y="2190006"/>
            <a:ext cx="2734828" cy="20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Identify relevant Haemophilia signals; classify by type, company, asset, disease (A/B), and source.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7206" y="2771552"/>
            <a:ext cx="2956285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07206" y="2499643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206" y="2499643"/>
            <a:ext cx="1893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8663" y="2499643"/>
            <a:ext cx="253074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Summarize &amp; Sources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8663" y="2616733"/>
            <a:ext cx="2410234" cy="10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concise, factual summaries with direct links to original sources.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07206" y="3097039"/>
            <a:ext cx="2956285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07206" y="2825130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7206" y="2825130"/>
            <a:ext cx="1893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8663" y="2825130"/>
            <a:ext cx="250390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Prioritize &amp; Score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8663" y="2942220"/>
            <a:ext cx="2384673" cy="10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 signals for relevance, urgency, and potential impact with rationale.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07206" y="3150617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7206" y="3150617"/>
            <a:ext cx="1893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8663" y="3150617"/>
            <a:ext cx="28445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 to the Right Function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8663" y="3267708"/>
            <a:ext cx="2734828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Recommend the most relevant NN function (Medical Affairs, Regulatory, Safety, Market Access, MedComms, Leadership).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9944" y="1296144"/>
            <a:ext cx="5080434" cy="3057971"/>
          </a:xfrm>
          <a:prstGeom prst="roundRect">
            <a:avLst>
              <a:gd name="adj" fmla="val 2492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63516" y="1299716"/>
            <a:ext cx="5073290" cy="242888"/>
          </a:xfrm>
          <a:prstGeom prst="rect">
            <a:avLst/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92116" y="1364010"/>
            <a:ext cx="45160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Haemophilia Intelligence Radar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49241" y="137115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1" name="Text 39"/>
          <p:cNvSpPr/>
          <p:nvPr/>
        </p:nvSpPr>
        <p:spPr>
          <a:xfrm>
            <a:off x="8422481" y="139258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508206" y="139258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593931" y="139258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663516" y="1542604"/>
            <a:ext cx="785813" cy="2807940"/>
          </a:xfrm>
          <a:prstGeom prst="rect">
            <a:avLst/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445757" y="1542604"/>
            <a:ext cx="0" cy="280794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3518" y="1590324"/>
            <a:ext cx="738664" cy="176022"/>
          </a:xfrm>
          <a:prstGeom prst="roundRect">
            <a:avLst>
              <a:gd name="adj" fmla="val 21645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864991" y="1628329"/>
            <a:ext cx="222687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Home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756385" y="163547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3810483" y="1778347"/>
            <a:ext cx="36295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Signals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749241" y="178549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3824393" y="1921222"/>
            <a:ext cx="45646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Companies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749241" y="192836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3803947" y="2064097"/>
            <a:ext cx="31620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Trials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3749241" y="207124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44" dirty="0"/>
          </a:p>
        </p:txBody>
      </p:sp>
      <p:sp>
        <p:nvSpPr>
          <p:cNvPr id="55" name="Text 53"/>
          <p:cNvSpPr/>
          <p:nvPr/>
        </p:nvSpPr>
        <p:spPr>
          <a:xfrm>
            <a:off x="3819252" y="2206972"/>
            <a:ext cx="409712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Congress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749241" y="221411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57" name="Text 55"/>
          <p:cNvSpPr/>
          <p:nvPr/>
        </p:nvSpPr>
        <p:spPr>
          <a:xfrm>
            <a:off x="3768490" y="2349847"/>
            <a:ext cx="596737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Publications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3749241" y="235699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3817509" y="2492722"/>
            <a:ext cx="31620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749241" y="249986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844" dirty="0"/>
          </a:p>
        </p:txBody>
      </p:sp>
      <p:sp>
        <p:nvSpPr>
          <p:cNvPr id="61" name="Text 59"/>
          <p:cNvSpPr/>
          <p:nvPr/>
        </p:nvSpPr>
        <p:spPr>
          <a:xfrm>
            <a:off x="3830345" y="2635597"/>
            <a:ext cx="31620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Access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3749241" y="264274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44" dirty="0"/>
          </a:p>
        </p:txBody>
      </p:sp>
      <p:sp>
        <p:nvSpPr>
          <p:cNvPr id="63" name="Text 61"/>
          <p:cNvSpPr/>
          <p:nvPr/>
        </p:nvSpPr>
        <p:spPr>
          <a:xfrm>
            <a:off x="3799390" y="2778472"/>
            <a:ext cx="45646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Functions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3749241" y="278561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44" dirty="0"/>
          </a:p>
        </p:txBody>
      </p:sp>
      <p:sp>
        <p:nvSpPr>
          <p:cNvPr id="65" name="Text 63"/>
          <p:cNvSpPr/>
          <p:nvPr/>
        </p:nvSpPr>
        <p:spPr>
          <a:xfrm>
            <a:off x="3801392" y="2921347"/>
            <a:ext cx="409712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Settings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3749241" y="292849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844" dirty="0"/>
          </a:p>
        </p:txBody>
      </p:sp>
      <p:sp>
        <p:nvSpPr>
          <p:cNvPr id="67" name="Text 65"/>
          <p:cNvSpPr/>
          <p:nvPr/>
        </p:nvSpPr>
        <p:spPr>
          <a:xfrm>
            <a:off x="4506478" y="1599754"/>
            <a:ext cx="1011064" cy="437108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4506478" y="1606897"/>
            <a:ext cx="1011064" cy="0"/>
          </a:xfrm>
          <a:prstGeom prst="line">
            <a:avLst/>
          </a:prstGeom>
          <a:noFill/>
          <a:ln w="14288">
            <a:solidFill>
              <a:srgbClr val="00A6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13970" y="1599754"/>
            <a:ext cx="0" cy="437108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06478" y="2033290"/>
            <a:ext cx="1011064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10050" y="1599754"/>
            <a:ext cx="0" cy="437108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31463" y="1656904"/>
            <a:ext cx="961095" cy="120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7"/>
              </a:lnSpc>
              <a:buNone/>
            </a:pPr>
            <a:r>
              <a:rPr lang="en-US" sz="800" spc="30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570772" y="1741847"/>
            <a:ext cx="882476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013" dirty="0"/>
          </a:p>
        </p:txBody>
      </p:sp>
      <p:sp>
        <p:nvSpPr>
          <p:cNvPr id="74" name="Text 72"/>
          <p:cNvSpPr/>
          <p:nvPr/>
        </p:nvSpPr>
        <p:spPr>
          <a:xfrm>
            <a:off x="4570772" y="1890415"/>
            <a:ext cx="88247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1F8A4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↑ 20% vs last week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560405" y="1599754"/>
            <a:ext cx="1011175" cy="437108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5560405" y="1606897"/>
            <a:ext cx="1011175" cy="0"/>
          </a:xfrm>
          <a:prstGeom prst="line">
            <a:avLst/>
          </a:prstGeom>
          <a:noFill/>
          <a:ln w="14288">
            <a:solidFill>
              <a:srgbClr val="00A6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68008" y="1599754"/>
            <a:ext cx="0" cy="437108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560405" y="2033290"/>
            <a:ext cx="1011175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63977" y="1599754"/>
            <a:ext cx="0" cy="437108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4699" y="1656904"/>
            <a:ext cx="882588" cy="120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7"/>
              </a:lnSpc>
              <a:buNone/>
            </a:pPr>
            <a:r>
              <a:rPr lang="en-US" sz="800" spc="30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SIGNALS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624699" y="1741847"/>
            <a:ext cx="882588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</a:t>
            </a:r>
            <a:endParaRPr lang="en-US" sz="1013" dirty="0"/>
          </a:p>
        </p:txBody>
      </p:sp>
      <p:sp>
        <p:nvSpPr>
          <p:cNvPr id="82" name="Text 80"/>
          <p:cNvSpPr/>
          <p:nvPr/>
        </p:nvSpPr>
        <p:spPr>
          <a:xfrm>
            <a:off x="5624699" y="1890415"/>
            <a:ext cx="8825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1F8A4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↑ 15% vs last week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614443" y="1599754"/>
            <a:ext cx="1011175" cy="437108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6614443" y="1606897"/>
            <a:ext cx="1011175" cy="0"/>
          </a:xfrm>
          <a:prstGeom prst="line">
            <a:avLst/>
          </a:prstGeom>
          <a:noFill/>
          <a:ln w="14288">
            <a:solidFill>
              <a:srgbClr val="00A6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22046" y="1599754"/>
            <a:ext cx="0" cy="437108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614443" y="2033290"/>
            <a:ext cx="1011175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18015" y="1599754"/>
            <a:ext cx="0" cy="437108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78737" y="1656904"/>
            <a:ext cx="882588" cy="120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7"/>
              </a:lnSpc>
              <a:buNone/>
            </a:pPr>
            <a:r>
              <a:rPr lang="en-US" sz="600" spc="30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COMPANIES TRACKED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6678737" y="1741847"/>
            <a:ext cx="882588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endParaRPr lang="en-US" sz="1013" dirty="0"/>
          </a:p>
        </p:txBody>
      </p:sp>
      <p:sp>
        <p:nvSpPr>
          <p:cNvPr id="90" name="Text 88"/>
          <p:cNvSpPr/>
          <p:nvPr/>
        </p:nvSpPr>
        <p:spPr>
          <a:xfrm>
            <a:off x="7668481" y="1599754"/>
            <a:ext cx="1011175" cy="437108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Shape 89"/>
          <p:cNvSpPr/>
          <p:nvPr/>
        </p:nvSpPr>
        <p:spPr>
          <a:xfrm>
            <a:off x="7668481" y="1606897"/>
            <a:ext cx="1011175" cy="0"/>
          </a:xfrm>
          <a:prstGeom prst="line">
            <a:avLst/>
          </a:prstGeom>
          <a:noFill/>
          <a:ln w="14288">
            <a:solidFill>
              <a:srgbClr val="00A6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676084" y="1599754"/>
            <a:ext cx="0" cy="437108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668481" y="2033290"/>
            <a:ext cx="1011175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672053" y="1599754"/>
            <a:ext cx="0" cy="437108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732775" y="1656904"/>
            <a:ext cx="882588" cy="120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7"/>
              </a:lnSpc>
              <a:buNone/>
            </a:pPr>
            <a:r>
              <a:rPr lang="en-US" sz="600" spc="30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SOURCES MONITORED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7732775" y="1741847"/>
            <a:ext cx="882588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75+</a:t>
            </a:r>
            <a:endParaRPr lang="en-US" sz="1013" dirty="0"/>
          </a:p>
        </p:txBody>
      </p:sp>
      <p:sp>
        <p:nvSpPr>
          <p:cNvPr id="97" name="Text 95"/>
          <p:cNvSpPr/>
          <p:nvPr/>
        </p:nvSpPr>
        <p:spPr>
          <a:xfrm>
            <a:off x="4510050" y="2090440"/>
            <a:ext cx="1710817" cy="994767"/>
          </a:xfrm>
          <a:prstGeom prst="roundRect">
            <a:avLst>
              <a:gd name="adj" fmla="val 3830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685072" y="2151162"/>
            <a:ext cx="633171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Signals by Type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4570772" y="21574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◑</a:t>
            </a:r>
            <a:endParaRPr lang="en-US" sz="844" dirty="0"/>
          </a:p>
        </p:txBody>
      </p:sp>
      <p:sp>
        <p:nvSpPr>
          <p:cNvPr id="100" name="Text 98"/>
          <p:cNvSpPr/>
          <p:nvPr/>
        </p:nvSpPr>
        <p:spPr>
          <a:xfrm>
            <a:off x="4570772" y="2292251"/>
            <a:ext cx="457200" cy="457200"/>
          </a:xfrm>
          <a:prstGeom prst="ellipse">
            <a:avLst/>
          </a:prstGeom>
          <a:solidFill>
            <a:srgbClr val="6CC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5085122" y="2370720"/>
            <a:ext cx="50006" cy="50006"/>
          </a:xfrm>
          <a:prstGeom prst="roundRect">
            <a:avLst>
              <a:gd name="adj" fmla="val 19048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5163703" y="2314687"/>
            <a:ext cx="201588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Trials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5085122" y="2370720"/>
            <a:ext cx="50006" cy="50006"/>
          </a:xfrm>
          <a:prstGeom prst="roundRect">
            <a:avLst>
              <a:gd name="adj" fmla="val 19048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5464862" y="2358777"/>
            <a:ext cx="178628" cy="12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32%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5616327" y="2370720"/>
            <a:ext cx="50006" cy="50006"/>
          </a:xfrm>
          <a:prstGeom prst="roundRect">
            <a:avLst>
              <a:gd name="adj" fmla="val 19048"/>
            </a:avLst>
          </a:prstGeom>
          <a:solidFill>
            <a:srgbClr val="2A6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5627122" y="2351633"/>
            <a:ext cx="5032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5616327" y="2370720"/>
            <a:ext cx="50006" cy="50006"/>
          </a:xfrm>
          <a:prstGeom prst="roundRect">
            <a:avLst>
              <a:gd name="adj" fmla="val 19048"/>
            </a:avLst>
          </a:prstGeom>
          <a:solidFill>
            <a:srgbClr val="2A6C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5999561" y="2358777"/>
            <a:ext cx="178628" cy="12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19%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5085122" y="2495848"/>
            <a:ext cx="50006" cy="50006"/>
          </a:xfrm>
          <a:prstGeom prst="roundRect">
            <a:avLst>
              <a:gd name="adj" fmla="val 19048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5147117" y="2476760"/>
            <a:ext cx="40971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Congress</a:t>
            </a:r>
            <a:endParaRPr lang="en-US" sz="600" dirty="0"/>
          </a:p>
        </p:txBody>
      </p:sp>
      <p:sp>
        <p:nvSpPr>
          <p:cNvPr id="111" name="Text 109"/>
          <p:cNvSpPr/>
          <p:nvPr/>
        </p:nvSpPr>
        <p:spPr>
          <a:xfrm>
            <a:off x="5085122" y="2495848"/>
            <a:ext cx="50006" cy="50006"/>
          </a:xfrm>
          <a:prstGeom prst="roundRect">
            <a:avLst>
              <a:gd name="adj" fmla="val 19048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5443431" y="2483904"/>
            <a:ext cx="178628" cy="12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5616327" y="2495848"/>
            <a:ext cx="50006" cy="50006"/>
          </a:xfrm>
          <a:prstGeom prst="roundRect">
            <a:avLst>
              <a:gd name="adj" fmla="val 19048"/>
            </a:avLst>
          </a:prstGeom>
          <a:solidFill>
            <a:srgbClr val="6CC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12"/>
          <p:cNvSpPr/>
          <p:nvPr/>
        </p:nvSpPr>
        <p:spPr>
          <a:xfrm>
            <a:off x="5609178" y="2476760"/>
            <a:ext cx="59673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Publications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5616327" y="2495848"/>
            <a:ext cx="50006" cy="50006"/>
          </a:xfrm>
          <a:prstGeom prst="roundRect">
            <a:avLst>
              <a:gd name="adj" fmla="val 19048"/>
            </a:avLst>
          </a:prstGeom>
          <a:solidFill>
            <a:srgbClr val="6CC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6022611" y="2483904"/>
            <a:ext cx="178628" cy="12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600" dirty="0"/>
          </a:p>
        </p:txBody>
      </p:sp>
      <p:sp>
        <p:nvSpPr>
          <p:cNvPr id="117" name="Text 115"/>
          <p:cNvSpPr/>
          <p:nvPr/>
        </p:nvSpPr>
        <p:spPr>
          <a:xfrm>
            <a:off x="5085122" y="2620975"/>
            <a:ext cx="50006" cy="50006"/>
          </a:xfrm>
          <a:prstGeom prst="roundRect">
            <a:avLst>
              <a:gd name="adj" fmla="val 19048"/>
            </a:avLst>
          </a:prstGeom>
          <a:solidFill>
            <a:srgbClr val="B1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5131463" y="2601888"/>
            <a:ext cx="31620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5085122" y="2620975"/>
            <a:ext cx="50006" cy="50006"/>
          </a:xfrm>
          <a:prstGeom prst="roundRect">
            <a:avLst>
              <a:gd name="adj" fmla="val 19048"/>
            </a:avLst>
          </a:prstGeom>
          <a:solidFill>
            <a:srgbClr val="B1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Text 118"/>
          <p:cNvSpPr/>
          <p:nvPr/>
        </p:nvSpPr>
        <p:spPr>
          <a:xfrm>
            <a:off x="5368305" y="2609031"/>
            <a:ext cx="205160" cy="12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8%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5616327" y="2620975"/>
            <a:ext cx="50006" cy="50006"/>
          </a:xfrm>
          <a:prstGeom prst="roundRect">
            <a:avLst>
              <a:gd name="adj" fmla="val 19048"/>
            </a:avLst>
          </a:prstGeom>
          <a:solidFill>
            <a:srgbClr val="5A6B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5694908" y="2564941"/>
            <a:ext cx="251817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Access / Market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5616327" y="2620975"/>
            <a:ext cx="50006" cy="50006"/>
          </a:xfrm>
          <a:prstGeom prst="roundRect">
            <a:avLst>
              <a:gd name="adj" fmla="val 19048"/>
            </a:avLst>
          </a:prstGeom>
          <a:solidFill>
            <a:srgbClr val="5A6B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22"/>
          <p:cNvSpPr/>
          <p:nvPr/>
        </p:nvSpPr>
        <p:spPr>
          <a:xfrm>
            <a:off x="6080131" y="2609031"/>
            <a:ext cx="122880" cy="12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7%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6278017" y="2090440"/>
            <a:ext cx="2397956" cy="994767"/>
          </a:xfrm>
          <a:prstGeom prst="roundRect">
            <a:avLst>
              <a:gd name="adj" fmla="val 3830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Text 124"/>
          <p:cNvSpPr/>
          <p:nvPr/>
        </p:nvSpPr>
        <p:spPr>
          <a:xfrm>
            <a:off x="6453039" y="2151162"/>
            <a:ext cx="1127873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Impacted Functions (This Week)</a:t>
            </a:r>
            <a:endParaRPr lang="en-US" sz="600" dirty="0"/>
          </a:p>
        </p:txBody>
      </p:sp>
      <p:sp>
        <p:nvSpPr>
          <p:cNvPr id="127" name="Text 125"/>
          <p:cNvSpPr/>
          <p:nvPr/>
        </p:nvSpPr>
        <p:spPr>
          <a:xfrm>
            <a:off x="6338739" y="21574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128" name="Text 126"/>
          <p:cNvSpPr/>
          <p:nvPr/>
        </p:nvSpPr>
        <p:spPr>
          <a:xfrm>
            <a:off x="6338739" y="2309217"/>
            <a:ext cx="65305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Affairs</a:t>
            </a:r>
            <a:endParaRPr lang="en-US" sz="600" dirty="0"/>
          </a:p>
        </p:txBody>
      </p:sp>
      <p:sp>
        <p:nvSpPr>
          <p:cNvPr id="129" name="Text 127"/>
          <p:cNvSpPr/>
          <p:nvPr/>
        </p:nvSpPr>
        <p:spPr>
          <a:xfrm>
            <a:off x="6931670" y="2311003"/>
            <a:ext cx="1476412" cy="64294"/>
          </a:xfrm>
          <a:prstGeom prst="roundRect">
            <a:avLst>
              <a:gd name="adj" fmla="val 29630"/>
            </a:avLst>
          </a:prstGeom>
          <a:solidFill>
            <a:srgbClr val="ECF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670" y="2311003"/>
            <a:ext cx="1476412" cy="64294"/>
          </a:xfrm>
          <a:prstGeom prst="rect">
            <a:avLst/>
          </a:prstGeom>
        </p:spPr>
      </p:pic>
      <p:sp>
        <p:nvSpPr>
          <p:cNvPr id="131" name="Text 128"/>
          <p:cNvSpPr/>
          <p:nvPr/>
        </p:nvSpPr>
        <p:spPr>
          <a:xfrm>
            <a:off x="8340931" y="229225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6329782" y="2432447"/>
            <a:ext cx="670966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931670" y="2434233"/>
            <a:ext cx="1476412" cy="64294"/>
          </a:xfrm>
          <a:prstGeom prst="roundRect">
            <a:avLst>
              <a:gd name="adj" fmla="val 29630"/>
            </a:avLst>
          </a:prstGeom>
          <a:solidFill>
            <a:srgbClr val="ECF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670" y="2434233"/>
            <a:ext cx="1048234" cy="64294"/>
          </a:xfrm>
          <a:prstGeom prst="rect">
            <a:avLst/>
          </a:prstGeom>
        </p:spPr>
      </p:pic>
      <p:sp>
        <p:nvSpPr>
          <p:cNvPr id="135" name="Text 131"/>
          <p:cNvSpPr/>
          <p:nvPr/>
        </p:nvSpPr>
        <p:spPr>
          <a:xfrm>
            <a:off x="8340931" y="241548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6319592" y="2555677"/>
            <a:ext cx="691347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/ PV</a:t>
            </a:r>
            <a:endParaRPr lang="en-US" sz="800" dirty="0"/>
          </a:p>
        </p:txBody>
      </p:sp>
      <p:sp>
        <p:nvSpPr>
          <p:cNvPr id="137" name="Text 133"/>
          <p:cNvSpPr/>
          <p:nvPr/>
        </p:nvSpPr>
        <p:spPr>
          <a:xfrm>
            <a:off x="6931670" y="2557463"/>
            <a:ext cx="1476412" cy="64294"/>
          </a:xfrm>
          <a:prstGeom prst="roundRect">
            <a:avLst>
              <a:gd name="adj" fmla="val 29630"/>
            </a:avLst>
          </a:prstGeom>
          <a:solidFill>
            <a:srgbClr val="ECF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670" y="2557463"/>
            <a:ext cx="841511" cy="64294"/>
          </a:xfrm>
          <a:prstGeom prst="rect">
            <a:avLst/>
          </a:prstGeom>
        </p:spPr>
      </p:pic>
      <p:sp>
        <p:nvSpPr>
          <p:cNvPr id="139" name="Text 134"/>
          <p:cNvSpPr/>
          <p:nvPr/>
        </p:nvSpPr>
        <p:spPr>
          <a:xfrm>
            <a:off x="8340931" y="253871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140" name="Text 135"/>
          <p:cNvSpPr/>
          <p:nvPr/>
        </p:nvSpPr>
        <p:spPr>
          <a:xfrm>
            <a:off x="6338739" y="2678906"/>
            <a:ext cx="65305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 Access</a:t>
            </a:r>
            <a:endParaRPr lang="en-US" sz="600" dirty="0"/>
          </a:p>
        </p:txBody>
      </p:sp>
      <p:sp>
        <p:nvSpPr>
          <p:cNvPr id="141" name="Text 136"/>
          <p:cNvSpPr/>
          <p:nvPr/>
        </p:nvSpPr>
        <p:spPr>
          <a:xfrm>
            <a:off x="6931670" y="2680692"/>
            <a:ext cx="1476412" cy="64294"/>
          </a:xfrm>
          <a:prstGeom prst="roundRect">
            <a:avLst>
              <a:gd name="adj" fmla="val 29630"/>
            </a:avLst>
          </a:prstGeom>
          <a:solidFill>
            <a:srgbClr val="ECF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670" y="2680692"/>
            <a:ext cx="738150" cy="64294"/>
          </a:xfrm>
          <a:prstGeom prst="rect">
            <a:avLst/>
          </a:prstGeom>
        </p:spPr>
      </p:pic>
      <p:sp>
        <p:nvSpPr>
          <p:cNvPr id="143" name="Text 137"/>
          <p:cNvSpPr/>
          <p:nvPr/>
        </p:nvSpPr>
        <p:spPr>
          <a:xfrm>
            <a:off x="8340931" y="266194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144" name="Text 138"/>
          <p:cNvSpPr/>
          <p:nvPr/>
        </p:nvSpPr>
        <p:spPr>
          <a:xfrm>
            <a:off x="6338739" y="2802136"/>
            <a:ext cx="65305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MedComms / ML</a:t>
            </a:r>
            <a:endParaRPr lang="en-US" sz="600" dirty="0"/>
          </a:p>
        </p:txBody>
      </p:sp>
      <p:sp>
        <p:nvSpPr>
          <p:cNvPr id="145" name="Text 139"/>
          <p:cNvSpPr/>
          <p:nvPr/>
        </p:nvSpPr>
        <p:spPr>
          <a:xfrm>
            <a:off x="6931670" y="2803922"/>
            <a:ext cx="1476412" cy="64294"/>
          </a:xfrm>
          <a:prstGeom prst="roundRect">
            <a:avLst>
              <a:gd name="adj" fmla="val 29630"/>
            </a:avLst>
          </a:prstGeom>
          <a:solidFill>
            <a:srgbClr val="ECF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670" y="2803922"/>
            <a:ext cx="634789" cy="64294"/>
          </a:xfrm>
          <a:prstGeom prst="rect">
            <a:avLst/>
          </a:prstGeom>
        </p:spPr>
      </p:pic>
      <p:sp>
        <p:nvSpPr>
          <p:cNvPr id="147" name="Text 140"/>
          <p:cNvSpPr/>
          <p:nvPr/>
        </p:nvSpPr>
        <p:spPr>
          <a:xfrm>
            <a:off x="8340931" y="278517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148" name="Text 141"/>
          <p:cNvSpPr/>
          <p:nvPr/>
        </p:nvSpPr>
        <p:spPr>
          <a:xfrm>
            <a:off x="6329782" y="2925366"/>
            <a:ext cx="670966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</a:t>
            </a:r>
            <a:endParaRPr lang="en-US" sz="800" dirty="0"/>
          </a:p>
        </p:txBody>
      </p:sp>
      <p:sp>
        <p:nvSpPr>
          <p:cNvPr id="149" name="Text 142"/>
          <p:cNvSpPr/>
          <p:nvPr/>
        </p:nvSpPr>
        <p:spPr>
          <a:xfrm>
            <a:off x="6931670" y="2927152"/>
            <a:ext cx="1476412" cy="64294"/>
          </a:xfrm>
          <a:prstGeom prst="roundRect">
            <a:avLst>
              <a:gd name="adj" fmla="val 29630"/>
            </a:avLst>
          </a:prstGeom>
          <a:solidFill>
            <a:srgbClr val="ECF1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670" y="2927152"/>
            <a:ext cx="428067" cy="64294"/>
          </a:xfrm>
          <a:prstGeom prst="rect">
            <a:avLst/>
          </a:prstGeom>
        </p:spPr>
      </p:pic>
      <p:sp>
        <p:nvSpPr>
          <p:cNvPr id="151" name="Text 143"/>
          <p:cNvSpPr/>
          <p:nvPr/>
        </p:nvSpPr>
        <p:spPr>
          <a:xfrm>
            <a:off x="8340931" y="2908399"/>
            <a:ext cx="27432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02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4"/>
          <p:cNvSpPr/>
          <p:nvPr/>
        </p:nvSpPr>
        <p:spPr>
          <a:xfrm>
            <a:off x="4510050" y="3142357"/>
            <a:ext cx="2534580" cy="1035844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Text 145"/>
          <p:cNvSpPr/>
          <p:nvPr/>
        </p:nvSpPr>
        <p:spPr>
          <a:xfrm>
            <a:off x="4654090" y="3195935"/>
            <a:ext cx="528401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signals</a:t>
            </a:r>
            <a:endParaRPr lang="en-US" sz="600" dirty="0"/>
          </a:p>
        </p:txBody>
      </p:sp>
      <p:sp>
        <p:nvSpPr>
          <p:cNvPr id="154" name="Text 146"/>
          <p:cNvSpPr/>
          <p:nvPr/>
        </p:nvSpPr>
        <p:spPr>
          <a:xfrm>
            <a:off x="4570772" y="320218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844" dirty="0"/>
          </a:p>
        </p:txBody>
      </p:sp>
      <p:sp>
        <p:nvSpPr>
          <p:cNvPr id="155" name="Shape 147"/>
          <p:cNvSpPr/>
          <p:nvPr/>
        </p:nvSpPr>
        <p:spPr>
          <a:xfrm>
            <a:off x="4570772" y="3540621"/>
            <a:ext cx="2413136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156" name="Text 148"/>
          <p:cNvSpPr/>
          <p:nvPr/>
        </p:nvSpPr>
        <p:spPr>
          <a:xfrm>
            <a:off x="4570772" y="3379758"/>
            <a:ext cx="400050" cy="100270"/>
          </a:xfrm>
          <a:prstGeom prst="roundRect">
            <a:avLst>
              <a:gd name="adj" fmla="val 28498"/>
            </a:avLst>
          </a:prstGeom>
          <a:solidFill>
            <a:srgbClr val="FCE4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Text 149"/>
          <p:cNvSpPr/>
          <p:nvPr/>
        </p:nvSpPr>
        <p:spPr>
          <a:xfrm>
            <a:off x="4570772" y="3385245"/>
            <a:ext cx="4000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78"/>
              </a:lnSpc>
              <a:buNone/>
            </a:pPr>
            <a:r>
              <a:rPr lang="en-US" sz="800" b="1" spc="24" kern="0" dirty="0">
                <a:solidFill>
                  <a:srgbClr val="B12A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158" name="Text 150"/>
          <p:cNvSpPr/>
          <p:nvPr/>
        </p:nvSpPr>
        <p:spPr>
          <a:xfrm>
            <a:off x="5013685" y="3344168"/>
            <a:ext cx="1406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Competitor Phase III trial update: NKT007 in Haemophilia A</a:t>
            </a:r>
            <a:endParaRPr lang="en-US" sz="800" dirty="0"/>
          </a:p>
        </p:txBody>
      </p:sp>
      <p:sp>
        <p:nvSpPr>
          <p:cNvPr id="159" name="Text 151"/>
          <p:cNvSpPr/>
          <p:nvPr/>
        </p:nvSpPr>
        <p:spPr>
          <a:xfrm>
            <a:off x="6323826" y="3393504"/>
            <a:ext cx="660083" cy="12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74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 · Clinical Trial</a:t>
            </a:r>
            <a:endParaRPr lang="en-US" sz="600" dirty="0"/>
          </a:p>
        </p:txBody>
      </p:sp>
      <p:sp>
        <p:nvSpPr>
          <p:cNvPr id="160" name="Shape 152"/>
          <p:cNvSpPr/>
          <p:nvPr/>
        </p:nvSpPr>
        <p:spPr>
          <a:xfrm>
            <a:off x="4570772" y="3762077"/>
            <a:ext cx="2413136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161" name="Text 153"/>
          <p:cNvSpPr/>
          <p:nvPr/>
        </p:nvSpPr>
        <p:spPr>
          <a:xfrm>
            <a:off x="4570772" y="3601214"/>
            <a:ext cx="400050" cy="100270"/>
          </a:xfrm>
          <a:prstGeom prst="roundRect">
            <a:avLst>
              <a:gd name="adj" fmla="val 28498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Text 154"/>
          <p:cNvSpPr/>
          <p:nvPr/>
        </p:nvSpPr>
        <p:spPr>
          <a:xfrm>
            <a:off x="4530025" y="3606701"/>
            <a:ext cx="48154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78"/>
              </a:lnSpc>
              <a:buNone/>
            </a:pPr>
            <a:r>
              <a:rPr lang="en-US" sz="800" b="1" spc="2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163" name="Text 155"/>
          <p:cNvSpPr/>
          <p:nvPr/>
        </p:nvSpPr>
        <p:spPr>
          <a:xfrm>
            <a:off x="5013685" y="3565624"/>
            <a:ext cx="1406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ISTH 2026 late-breaker abstract on non-factor therapy</a:t>
            </a:r>
            <a:endParaRPr lang="en-US" sz="800" dirty="0"/>
          </a:p>
        </p:txBody>
      </p:sp>
      <p:sp>
        <p:nvSpPr>
          <p:cNvPr id="164" name="Text 156"/>
          <p:cNvSpPr/>
          <p:nvPr/>
        </p:nvSpPr>
        <p:spPr>
          <a:xfrm>
            <a:off x="6280621" y="3614961"/>
            <a:ext cx="703288" cy="12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74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Yesterday · Congress</a:t>
            </a:r>
            <a:endParaRPr lang="en-US" sz="600" dirty="0"/>
          </a:p>
        </p:txBody>
      </p:sp>
      <p:sp>
        <p:nvSpPr>
          <p:cNvPr id="165" name="Text 157"/>
          <p:cNvSpPr/>
          <p:nvPr/>
        </p:nvSpPr>
        <p:spPr>
          <a:xfrm>
            <a:off x="4570772" y="3822671"/>
            <a:ext cx="400050" cy="100270"/>
          </a:xfrm>
          <a:prstGeom prst="roundRect">
            <a:avLst>
              <a:gd name="adj" fmla="val 28498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Text 158"/>
          <p:cNvSpPr/>
          <p:nvPr/>
        </p:nvSpPr>
        <p:spPr>
          <a:xfrm>
            <a:off x="4530025" y="3828157"/>
            <a:ext cx="48154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78"/>
              </a:lnSpc>
              <a:buNone/>
            </a:pPr>
            <a:r>
              <a:rPr lang="en-US" sz="800" b="1" spc="2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167" name="Text 159"/>
          <p:cNvSpPr/>
          <p:nvPr/>
        </p:nvSpPr>
        <p:spPr>
          <a:xfrm>
            <a:off x="5013685" y="3787080"/>
            <a:ext cx="1406924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submission update — alternative MoA therapy</a:t>
            </a:r>
            <a:endParaRPr lang="en-US" sz="800" dirty="0"/>
          </a:p>
        </p:txBody>
      </p:sp>
      <p:sp>
        <p:nvSpPr>
          <p:cNvPr id="168" name="Text 160"/>
          <p:cNvSpPr/>
          <p:nvPr/>
        </p:nvSpPr>
        <p:spPr>
          <a:xfrm>
            <a:off x="6383834" y="3800029"/>
            <a:ext cx="600075" cy="26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74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days ago · Regulatory</a:t>
            </a:r>
            <a:endParaRPr lang="en-US" sz="800" dirty="0"/>
          </a:p>
        </p:txBody>
      </p:sp>
      <p:sp>
        <p:nvSpPr>
          <p:cNvPr id="169" name="Text 161"/>
          <p:cNvSpPr/>
          <p:nvPr/>
        </p:nvSpPr>
        <p:spPr>
          <a:xfrm>
            <a:off x="7094637" y="3142357"/>
            <a:ext cx="1581448" cy="1035844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Text 162"/>
          <p:cNvSpPr/>
          <p:nvPr/>
        </p:nvSpPr>
        <p:spPr>
          <a:xfrm>
            <a:off x="7269659" y="3195935"/>
            <a:ext cx="822089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Trending companies</a:t>
            </a:r>
            <a:endParaRPr lang="en-US" sz="600" dirty="0"/>
          </a:p>
        </p:txBody>
      </p:sp>
      <p:sp>
        <p:nvSpPr>
          <p:cNvPr id="171" name="Text 163"/>
          <p:cNvSpPr/>
          <p:nvPr/>
        </p:nvSpPr>
        <p:spPr>
          <a:xfrm>
            <a:off x="7155359" y="320218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172" name="Text 164"/>
          <p:cNvSpPr/>
          <p:nvPr/>
        </p:nvSpPr>
        <p:spPr>
          <a:xfrm>
            <a:off x="7132499" y="3314057"/>
            <a:ext cx="1505724" cy="162020"/>
          </a:xfrm>
          <a:prstGeom prst="roundRect">
            <a:avLst>
              <a:gd name="adj" fmla="val 17637"/>
            </a:avLst>
          </a:prstGeom>
          <a:solidFill>
            <a:srgbClr val="F4F7FB"/>
          </a:solidFill>
          <a:ln w="7144">
            <a:solidFill>
              <a:srgbClr val="ECF1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3" name="Text 165"/>
          <p:cNvSpPr/>
          <p:nvPr/>
        </p:nvSpPr>
        <p:spPr>
          <a:xfrm>
            <a:off x="7111582" y="3351312"/>
            <a:ext cx="64978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Roche / Chugai</a:t>
            </a:r>
            <a:endParaRPr lang="en-US" sz="600" dirty="0"/>
          </a:p>
        </p:txBody>
      </p:sp>
      <p:sp>
        <p:nvSpPr>
          <p:cNvPr id="174" name="Text 166"/>
          <p:cNvSpPr/>
          <p:nvPr/>
        </p:nvSpPr>
        <p:spPr>
          <a:xfrm>
            <a:off x="8385375" y="3344168"/>
            <a:ext cx="203805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↑</a:t>
            </a:r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endParaRPr lang="en-US" sz="600" dirty="0"/>
          </a:p>
        </p:txBody>
      </p:sp>
      <p:sp>
        <p:nvSpPr>
          <p:cNvPr id="175" name="Text 167"/>
          <p:cNvSpPr/>
          <p:nvPr/>
        </p:nvSpPr>
        <p:spPr>
          <a:xfrm>
            <a:off x="7132499" y="3480149"/>
            <a:ext cx="1505724" cy="162020"/>
          </a:xfrm>
          <a:prstGeom prst="roundRect">
            <a:avLst>
              <a:gd name="adj" fmla="val 17637"/>
            </a:avLst>
          </a:prstGeom>
          <a:solidFill>
            <a:srgbClr val="F4F7FB"/>
          </a:solidFill>
          <a:ln w="7144">
            <a:solidFill>
              <a:srgbClr val="ECF1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Text 168"/>
          <p:cNvSpPr/>
          <p:nvPr/>
        </p:nvSpPr>
        <p:spPr>
          <a:xfrm>
            <a:off x="7109855" y="3517404"/>
            <a:ext cx="584149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00" dirty="0"/>
          </a:p>
        </p:txBody>
      </p:sp>
      <p:sp>
        <p:nvSpPr>
          <p:cNvPr id="177" name="Text 169"/>
          <p:cNvSpPr/>
          <p:nvPr/>
        </p:nvSpPr>
        <p:spPr>
          <a:xfrm>
            <a:off x="8385375" y="3510260"/>
            <a:ext cx="203805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↑</a:t>
            </a:r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600" dirty="0"/>
          </a:p>
        </p:txBody>
      </p:sp>
      <p:sp>
        <p:nvSpPr>
          <p:cNvPr id="178" name="Text 170"/>
          <p:cNvSpPr/>
          <p:nvPr/>
        </p:nvSpPr>
        <p:spPr>
          <a:xfrm>
            <a:off x="7132499" y="3646241"/>
            <a:ext cx="1505724" cy="162020"/>
          </a:xfrm>
          <a:prstGeom prst="roundRect">
            <a:avLst>
              <a:gd name="adj" fmla="val 17637"/>
            </a:avLst>
          </a:prstGeom>
          <a:solidFill>
            <a:srgbClr val="F4F7FB"/>
          </a:solidFill>
          <a:ln w="7144">
            <a:solidFill>
              <a:srgbClr val="ECF1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Text 171"/>
          <p:cNvSpPr/>
          <p:nvPr/>
        </p:nvSpPr>
        <p:spPr>
          <a:xfrm>
            <a:off x="7127967" y="3683496"/>
            <a:ext cx="316200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Pfizer</a:t>
            </a:r>
            <a:endParaRPr lang="en-US" sz="600" dirty="0"/>
          </a:p>
        </p:txBody>
      </p:sp>
      <p:sp>
        <p:nvSpPr>
          <p:cNvPr id="180" name="Text 172"/>
          <p:cNvSpPr/>
          <p:nvPr/>
        </p:nvSpPr>
        <p:spPr>
          <a:xfrm>
            <a:off x="8385375" y="3676352"/>
            <a:ext cx="203805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600" dirty="0"/>
          </a:p>
        </p:txBody>
      </p:sp>
      <p:sp>
        <p:nvSpPr>
          <p:cNvPr id="181" name="Text 173"/>
          <p:cNvSpPr/>
          <p:nvPr/>
        </p:nvSpPr>
        <p:spPr>
          <a:xfrm>
            <a:off x="7132499" y="3812334"/>
            <a:ext cx="1505724" cy="162020"/>
          </a:xfrm>
          <a:prstGeom prst="roundRect">
            <a:avLst>
              <a:gd name="adj" fmla="val 17637"/>
            </a:avLst>
          </a:prstGeom>
          <a:solidFill>
            <a:srgbClr val="F4F7FB"/>
          </a:solidFill>
          <a:ln w="7144">
            <a:solidFill>
              <a:srgbClr val="ECF1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Text 174"/>
          <p:cNvSpPr/>
          <p:nvPr/>
        </p:nvSpPr>
        <p:spPr>
          <a:xfrm>
            <a:off x="7141473" y="3849588"/>
            <a:ext cx="316200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Sanofi</a:t>
            </a:r>
            <a:endParaRPr lang="en-US" sz="600" dirty="0"/>
          </a:p>
        </p:txBody>
      </p:sp>
      <p:sp>
        <p:nvSpPr>
          <p:cNvPr id="183" name="Text 175"/>
          <p:cNvSpPr/>
          <p:nvPr/>
        </p:nvSpPr>
        <p:spPr>
          <a:xfrm>
            <a:off x="8430215" y="3842445"/>
            <a:ext cx="148057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B12A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</a:t>
            </a:r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600" dirty="0"/>
          </a:p>
        </p:txBody>
      </p:sp>
      <p:sp>
        <p:nvSpPr>
          <p:cNvPr id="184" name="Text 176"/>
          <p:cNvSpPr/>
          <p:nvPr/>
        </p:nvSpPr>
        <p:spPr>
          <a:xfrm>
            <a:off x="7132499" y="3978426"/>
            <a:ext cx="1505724" cy="162020"/>
          </a:xfrm>
          <a:prstGeom prst="roundRect">
            <a:avLst>
              <a:gd name="adj" fmla="val 17637"/>
            </a:avLst>
          </a:prstGeom>
          <a:solidFill>
            <a:srgbClr val="F4F7FB"/>
          </a:solidFill>
          <a:ln w="7144">
            <a:solidFill>
              <a:srgbClr val="ECF1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Text 177"/>
          <p:cNvSpPr/>
          <p:nvPr/>
        </p:nvSpPr>
        <p:spPr>
          <a:xfrm>
            <a:off x="7159766" y="4015680"/>
            <a:ext cx="2226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Sobi</a:t>
            </a:r>
            <a:endParaRPr lang="en-US" sz="600" dirty="0"/>
          </a:p>
        </p:txBody>
      </p:sp>
      <p:sp>
        <p:nvSpPr>
          <p:cNvPr id="186" name="Text 178"/>
          <p:cNvSpPr/>
          <p:nvPr/>
        </p:nvSpPr>
        <p:spPr>
          <a:xfrm>
            <a:off x="8430215" y="4008537"/>
            <a:ext cx="148057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1F8A4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↑</a:t>
            </a:r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02"/>
              </a:lnSpc>
              <a:buNone/>
            </a:pPr>
            <a:r>
              <a:rPr lang="en-US" sz="6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600" dirty="0"/>
          </a:p>
        </p:txBody>
      </p:sp>
      <p:sp>
        <p:nvSpPr>
          <p:cNvPr id="187" name="Text 179"/>
          <p:cNvSpPr/>
          <p:nvPr/>
        </p:nvSpPr>
        <p:spPr>
          <a:xfrm>
            <a:off x="400050" y="4457700"/>
            <a:ext cx="11158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71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EXTRA CAPABILITIES</a:t>
            </a:r>
            <a:endParaRPr lang="en-US" sz="600" dirty="0"/>
          </a:p>
        </p:txBody>
      </p:sp>
      <p:sp>
        <p:nvSpPr>
          <p:cNvPr id="188" name="Text 180"/>
          <p:cNvSpPr/>
          <p:nvPr/>
        </p:nvSpPr>
        <p:spPr>
          <a:xfrm>
            <a:off x="1276499" y="4402943"/>
            <a:ext cx="906587" cy="222028"/>
          </a:xfrm>
          <a:prstGeom prst="roundRect">
            <a:avLst>
              <a:gd name="adj" fmla="val 4285709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Text 181"/>
          <p:cNvSpPr/>
          <p:nvPr/>
        </p:nvSpPr>
        <p:spPr>
          <a:xfrm>
            <a:off x="1476524" y="4464844"/>
            <a:ext cx="727993" cy="13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Intuitive Dashboard</a:t>
            </a:r>
            <a:endParaRPr lang="en-US" sz="600" dirty="0"/>
          </a:p>
        </p:txBody>
      </p:sp>
      <p:sp>
        <p:nvSpPr>
          <p:cNvPr id="190" name="Text 182"/>
          <p:cNvSpPr/>
          <p:nvPr/>
        </p:nvSpPr>
        <p:spPr>
          <a:xfrm>
            <a:off x="1347936" y="446752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191" name="Text 183"/>
          <p:cNvSpPr/>
          <p:nvPr/>
        </p:nvSpPr>
        <p:spPr>
          <a:xfrm>
            <a:off x="2229520" y="4418409"/>
            <a:ext cx="1471724" cy="191095"/>
          </a:xfrm>
          <a:prstGeom prst="roundRect">
            <a:avLst>
              <a:gd name="adj" fmla="val 497944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Text 184"/>
          <p:cNvSpPr/>
          <p:nvPr/>
        </p:nvSpPr>
        <p:spPr>
          <a:xfrm>
            <a:off x="2425973" y="4464844"/>
            <a:ext cx="1300274" cy="135854"/>
          </a:xfrm>
          <a:prstGeom prst="rect">
            <a:avLst/>
          </a:prstGeom>
          <a:noFill/>
          <a:ln/>
        </p:spPr>
        <p:txBody>
          <a:bodyPr wrap="none" lIns="64294" tIns="35719" rIns="64294" bIns="35719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Analysis + Stakeholder Calibration</a:t>
            </a:r>
            <a:endParaRPr lang="en-US" sz="600" dirty="0"/>
          </a:p>
        </p:txBody>
      </p:sp>
      <p:sp>
        <p:nvSpPr>
          <p:cNvPr id="193" name="Text 185"/>
          <p:cNvSpPr/>
          <p:nvPr/>
        </p:nvSpPr>
        <p:spPr>
          <a:xfrm>
            <a:off x="2297385" y="446752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914" dirty="0"/>
          </a:p>
        </p:txBody>
      </p:sp>
      <p:sp>
        <p:nvSpPr>
          <p:cNvPr id="194" name="Text 186"/>
          <p:cNvSpPr/>
          <p:nvPr/>
        </p:nvSpPr>
        <p:spPr>
          <a:xfrm>
            <a:off x="3751250" y="4418409"/>
            <a:ext cx="1122685" cy="191095"/>
          </a:xfrm>
          <a:prstGeom prst="roundRect">
            <a:avLst>
              <a:gd name="adj" fmla="val 497944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5" name="Text 187"/>
          <p:cNvSpPr/>
          <p:nvPr/>
        </p:nvSpPr>
        <p:spPr>
          <a:xfrm>
            <a:off x="3947703" y="4464844"/>
            <a:ext cx="951235" cy="135854"/>
          </a:xfrm>
          <a:prstGeom prst="rect">
            <a:avLst/>
          </a:prstGeom>
          <a:noFill/>
          <a:ln/>
        </p:spPr>
        <p:txBody>
          <a:bodyPr wrap="none" lIns="64294" tIns="35719" rIns="64294" bIns="35719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 &amp; Transparent</a:t>
            </a:r>
            <a:endParaRPr lang="en-US" sz="600" dirty="0"/>
          </a:p>
        </p:txBody>
      </p:sp>
      <p:sp>
        <p:nvSpPr>
          <p:cNvPr id="196" name="Text 188"/>
          <p:cNvSpPr/>
          <p:nvPr/>
        </p:nvSpPr>
        <p:spPr>
          <a:xfrm>
            <a:off x="3819116" y="446752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14" dirty="0"/>
          </a:p>
        </p:txBody>
      </p:sp>
      <p:sp>
        <p:nvSpPr>
          <p:cNvPr id="197" name="Text 189"/>
          <p:cNvSpPr/>
          <p:nvPr/>
        </p:nvSpPr>
        <p:spPr>
          <a:xfrm>
            <a:off x="4923941" y="4418409"/>
            <a:ext cx="1151260" cy="191095"/>
          </a:xfrm>
          <a:prstGeom prst="roundRect">
            <a:avLst>
              <a:gd name="adj" fmla="val 497944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Text 190"/>
          <p:cNvSpPr/>
          <p:nvPr/>
        </p:nvSpPr>
        <p:spPr>
          <a:xfrm>
            <a:off x="5120394" y="4464844"/>
            <a:ext cx="979810" cy="135854"/>
          </a:xfrm>
          <a:prstGeom prst="rect">
            <a:avLst/>
          </a:prstGeom>
          <a:noFill/>
          <a:ln/>
        </p:spPr>
        <p:txBody>
          <a:bodyPr wrap="none" lIns="64294" tIns="35719" rIns="64294" bIns="35719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Alerts &amp; Intelligence Digest</a:t>
            </a:r>
            <a:endParaRPr lang="en-US" sz="600" dirty="0"/>
          </a:p>
        </p:txBody>
      </p:sp>
      <p:sp>
        <p:nvSpPr>
          <p:cNvPr id="199" name="Text 191"/>
          <p:cNvSpPr/>
          <p:nvPr/>
        </p:nvSpPr>
        <p:spPr>
          <a:xfrm>
            <a:off x="4991807" y="446752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914" dirty="0"/>
          </a:p>
        </p:txBody>
      </p:sp>
      <p:sp>
        <p:nvSpPr>
          <p:cNvPr id="200" name="Text 192"/>
          <p:cNvSpPr/>
          <p:nvPr/>
        </p:nvSpPr>
        <p:spPr>
          <a:xfrm>
            <a:off x="6125208" y="4418409"/>
            <a:ext cx="1181286" cy="191095"/>
          </a:xfrm>
          <a:prstGeom prst="roundRect">
            <a:avLst>
              <a:gd name="adj" fmla="val 497944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1" name="Text 193"/>
          <p:cNvSpPr/>
          <p:nvPr/>
        </p:nvSpPr>
        <p:spPr>
          <a:xfrm>
            <a:off x="6321661" y="4464844"/>
            <a:ext cx="2422289" cy="135854"/>
          </a:xfrm>
          <a:prstGeom prst="rect">
            <a:avLst/>
          </a:prstGeom>
          <a:noFill/>
          <a:ln/>
        </p:spPr>
        <p:txBody>
          <a:bodyPr wrap="none" lIns="64294" tIns="35719" rIns="64294" bIns="35719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Compliant &amp; Safe by Design</a:t>
            </a:r>
            <a:endParaRPr lang="en-US" sz="800" dirty="0"/>
          </a:p>
        </p:txBody>
      </p:sp>
      <p:sp>
        <p:nvSpPr>
          <p:cNvPr id="202" name="Text 194"/>
          <p:cNvSpPr/>
          <p:nvPr/>
        </p:nvSpPr>
        <p:spPr>
          <a:xfrm>
            <a:off x="6193073" y="446752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14" dirty="0"/>
          </a:p>
        </p:txBody>
      </p:sp>
      <p:sp>
        <p:nvSpPr>
          <p:cNvPr id="203" name="Text 195"/>
          <p:cNvSpPr/>
          <p:nvPr/>
        </p:nvSpPr>
        <p:spPr>
          <a:xfrm>
            <a:off x="400050" y="4663083"/>
            <a:ext cx="8343900" cy="251817"/>
          </a:xfrm>
          <a:prstGeom prst="roundRect">
            <a:avLst>
              <a:gd name="adj" fmla="val 22695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Shape 196"/>
          <p:cNvSpPr/>
          <p:nvPr/>
        </p:nvSpPr>
        <p:spPr>
          <a:xfrm>
            <a:off x="400050" y="4666655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05" name="Shape 197"/>
          <p:cNvSpPr/>
          <p:nvPr/>
        </p:nvSpPr>
        <p:spPr>
          <a:xfrm>
            <a:off x="8740378" y="4663083"/>
            <a:ext cx="0" cy="251817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06" name="Shape 198"/>
          <p:cNvSpPr/>
          <p:nvPr/>
        </p:nvSpPr>
        <p:spPr>
          <a:xfrm>
            <a:off x="400050" y="491132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07" name="Shape 199"/>
          <p:cNvSpPr/>
          <p:nvPr/>
        </p:nvSpPr>
        <p:spPr>
          <a:xfrm>
            <a:off x="410766" y="4663083"/>
            <a:ext cx="0" cy="251817"/>
          </a:xfrm>
          <a:prstGeom prst="line">
            <a:avLst/>
          </a:prstGeom>
          <a:noFill/>
          <a:ln w="21431">
            <a:solidFill>
              <a:srgbClr val="1F8A4C"/>
            </a:solidFill>
            <a:prstDash val="solid"/>
          </a:ln>
        </p:spPr>
      </p:sp>
      <p:sp>
        <p:nvSpPr>
          <p:cNvPr id="208" name="Shape 200"/>
          <p:cNvSpPr/>
          <p:nvPr/>
        </p:nvSpPr>
        <p:spPr>
          <a:xfrm>
            <a:off x="2477095" y="4727377"/>
            <a:ext cx="0" cy="12323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09" name="Text 201"/>
          <p:cNvSpPr/>
          <p:nvPr/>
        </p:nvSpPr>
        <p:spPr>
          <a:xfrm>
            <a:off x="507206" y="47318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8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10" name="Text 202"/>
          <p:cNvSpPr/>
          <p:nvPr/>
        </p:nvSpPr>
        <p:spPr>
          <a:xfrm>
            <a:off x="664369" y="4727377"/>
            <a:ext cx="174486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Find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right signals, faster.</a:t>
            </a:r>
            <a:endParaRPr lang="en-US" sz="800" dirty="0"/>
          </a:p>
        </p:txBody>
      </p:sp>
      <p:sp>
        <p:nvSpPr>
          <p:cNvPr id="211" name="Shape 203"/>
          <p:cNvSpPr/>
          <p:nvPr/>
        </p:nvSpPr>
        <p:spPr>
          <a:xfrm>
            <a:off x="4536281" y="4727377"/>
            <a:ext cx="0" cy="12323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12" name="Text 204"/>
          <p:cNvSpPr/>
          <p:nvPr/>
        </p:nvSpPr>
        <p:spPr>
          <a:xfrm>
            <a:off x="2566392" y="47318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8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13" name="Text 205"/>
          <p:cNvSpPr/>
          <p:nvPr/>
        </p:nvSpPr>
        <p:spPr>
          <a:xfrm>
            <a:off x="2723555" y="4727377"/>
            <a:ext cx="173771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the right teams.</a:t>
            </a:r>
            <a:endParaRPr lang="en-US" sz="800" dirty="0"/>
          </a:p>
        </p:txBody>
      </p:sp>
      <p:sp>
        <p:nvSpPr>
          <p:cNvPr id="214" name="Shape 206"/>
          <p:cNvSpPr/>
          <p:nvPr/>
        </p:nvSpPr>
        <p:spPr>
          <a:xfrm>
            <a:off x="6595467" y="4727377"/>
            <a:ext cx="0" cy="12323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15" name="Text 207"/>
          <p:cNvSpPr/>
          <p:nvPr/>
        </p:nvSpPr>
        <p:spPr>
          <a:xfrm>
            <a:off x="4625578" y="47318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8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16" name="Text 208"/>
          <p:cNvSpPr/>
          <p:nvPr/>
        </p:nvSpPr>
        <p:spPr>
          <a:xfrm>
            <a:off x="4782741" y="4727377"/>
            <a:ext cx="174486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 </a:t>
            </a:r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better decisions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17" name="Text 209"/>
          <p:cNvSpPr/>
          <p:nvPr/>
        </p:nvSpPr>
        <p:spPr>
          <a:xfrm>
            <a:off x="6684764" y="47318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F8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18" name="Text 210"/>
          <p:cNvSpPr/>
          <p:nvPr/>
        </p:nvSpPr>
        <p:spPr>
          <a:xfrm>
            <a:off x="6841927" y="4727377"/>
            <a:ext cx="173771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a </a:t>
            </a:r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to scale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19" name="Text 211"/>
          <p:cNvSpPr/>
          <p:nvPr/>
        </p:nvSpPr>
        <p:spPr>
          <a:xfrm>
            <a:off x="400050" y="4930973"/>
            <a:ext cx="80447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 GBS Hackathon 2026 · Kick-off</a:t>
            </a:r>
            <a:endParaRPr lang="en-US" sz="800" dirty="0"/>
          </a:p>
        </p:txBody>
      </p:sp>
      <p:sp>
        <p:nvSpPr>
          <p:cNvPr id="220" name="Text 212"/>
          <p:cNvSpPr/>
          <p:nvPr/>
        </p:nvSpPr>
        <p:spPr>
          <a:xfrm>
            <a:off x="8459093" y="4930973"/>
            <a:ext cx="395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08</a:t>
            </a:r>
            <a:endParaRPr lang="en-US" sz="600" dirty="0"/>
          </a:p>
        </p:txBody>
      </p:sp>
      <p:sp>
        <p:nvSpPr>
          <p:cNvPr id="221" name="Text 213"/>
          <p:cNvSpPr/>
          <p:nvPr/>
        </p:nvSpPr>
        <p:spPr>
          <a:xfrm>
            <a:off x="4643122" y="2431554"/>
            <a:ext cx="31250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9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222" name="Text 214"/>
          <p:cNvSpPr/>
          <p:nvPr/>
        </p:nvSpPr>
        <p:spPr>
          <a:xfrm>
            <a:off x="4647103" y="2538710"/>
            <a:ext cx="3539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7148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164" y="257175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4093" y="257175"/>
            <a:ext cx="194777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STAKEHOLDER LEARNING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77684" y="291108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684" y="262533"/>
            <a:ext cx="66626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050" y="603647"/>
            <a:ext cx="863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+ STAKEHOLDER CALIBRATION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775097"/>
            <a:ext cx="86360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5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AI baseline with stakeholder input to improve relevance, urgency, and actionability.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03622" y="1125141"/>
            <a:ext cx="1535906" cy="657671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2919" y="1200150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919" y="1200150"/>
            <a:ext cx="1821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1225153"/>
            <a:ext cx="1150144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signals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2919" y="1393031"/>
            <a:ext cx="1438751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Public/synthetic news, trials, congresses, publications, regulatory and access updates.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43100" y="1121569"/>
            <a:ext cx="157163" cy="664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2103834" y="1125141"/>
            <a:ext cx="1535906" cy="657671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93131" y="1200150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93131" y="1200150"/>
            <a:ext cx="1821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00300" y="1225153"/>
            <a:ext cx="1150144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baseline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93131" y="1393031"/>
            <a:ext cx="1438751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classification, summary, priority score, and suggested internal action.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43313" y="1121569"/>
            <a:ext cx="157163" cy="664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3804047" y="1125141"/>
            <a:ext cx="1535906" cy="657671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93344" y="1200150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93344" y="1200150"/>
            <a:ext cx="1821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00513" y="1225153"/>
            <a:ext cx="1150144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703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NN stakeholder input</a:t>
            </a:r>
            <a:endParaRPr lang="en-US" sz="703" dirty="0"/>
          </a:p>
        </p:txBody>
      </p:sp>
      <p:sp>
        <p:nvSpPr>
          <p:cNvPr id="25" name="Text 23"/>
          <p:cNvSpPr/>
          <p:nvPr/>
        </p:nvSpPr>
        <p:spPr>
          <a:xfrm>
            <a:off x="3893344" y="1393031"/>
            <a:ext cx="1438751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Function-specific perspective on relevance, urgency, and decision logic.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43525" y="1121569"/>
            <a:ext cx="157163" cy="664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5504259" y="1125141"/>
            <a:ext cx="1535906" cy="657671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93556" y="1200150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93556" y="1200150"/>
            <a:ext cx="1821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00725" y="1225153"/>
            <a:ext cx="1150144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Calibrated logic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93556" y="1393031"/>
            <a:ext cx="1438751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Refined scoring rules, routing logic, and better “so what” explanations.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43738" y="1121569"/>
            <a:ext cx="157163" cy="664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238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0" y="1121569"/>
            <a:ext cx="1543050" cy="664815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7200900" y="1132284"/>
            <a:ext cx="1543050" cy="0"/>
          </a:xfrm>
          <a:prstGeom prst="line">
            <a:avLst/>
          </a:prstGeom>
          <a:noFill/>
          <a:ln w="21431">
            <a:solidFill>
              <a:srgbClr val="00A6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40378" y="1121569"/>
            <a:ext cx="0" cy="664815"/>
          </a:xfrm>
          <a:prstGeom prst="line">
            <a:avLst/>
          </a:prstGeom>
          <a:noFill/>
          <a:ln w="7144">
            <a:solidFill>
              <a:srgbClr val="6CC4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00900" y="1782812"/>
            <a:ext cx="1543050" cy="0"/>
          </a:xfrm>
          <a:prstGeom prst="line">
            <a:avLst/>
          </a:prstGeom>
          <a:noFill/>
          <a:ln w="7144">
            <a:solidFill>
              <a:srgbClr val="6CC4E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04472" y="1121569"/>
            <a:ext cx="0" cy="664815"/>
          </a:xfrm>
          <a:prstGeom prst="line">
            <a:avLst/>
          </a:prstGeom>
          <a:noFill/>
          <a:ln w="7144">
            <a:solidFill>
              <a:srgbClr val="6CC4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93769" y="1214438"/>
            <a:ext cx="157163" cy="157163"/>
          </a:xfrm>
          <a:prstGeom prst="roundRect">
            <a:avLst>
              <a:gd name="adj" fmla="val 24242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293769" y="1214438"/>
            <a:ext cx="1821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500938" y="1239441"/>
            <a:ext cx="1150144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3E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Better intelligence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293769" y="1407319"/>
            <a:ext cx="1438751" cy="300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Source-linked, trusted, actionable signal cards for internal review.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3622" y="1889968"/>
            <a:ext cx="8336756" cy="1292237"/>
          </a:xfrm>
          <a:prstGeom prst="roundRect">
            <a:avLst>
              <a:gd name="adj" fmla="val 5897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78656" y="1986409"/>
            <a:ext cx="2752241" cy="14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Expected demo — AI baseline vs stakeholder-calibrated intelligence</a:t>
            </a:r>
            <a:endParaRPr lang="en-US" sz="731" dirty="0"/>
          </a:p>
        </p:txBody>
      </p:sp>
      <p:sp>
        <p:nvSpPr>
          <p:cNvPr id="44" name="Text 41"/>
          <p:cNvSpPr/>
          <p:nvPr/>
        </p:nvSpPr>
        <p:spPr>
          <a:xfrm>
            <a:off x="507206" y="198462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206" y="2175718"/>
          <a:ext cx="8129588" cy="914400"/>
        </p:xfrm>
        <a:graphic>
          <a:graphicData uri="http://schemas.openxmlformats.org/drawingml/2006/table">
            <a:tbl>
              <a:tblPr/>
              <a:tblGrid>
                <a:gridCol w="1951025"/>
                <a:gridCol w="1951025"/>
                <a:gridCol w="42275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6B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Signal example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6B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AI baseline output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6B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Stakeholder-calibrated output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3A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Competitor Phase III trial update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314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High competitor relevance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E1B2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Route to Medical Affairs + Regulatory; monitor full publication/congress data; avoid unsupported comparisons.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3A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Access or reimbursement discussion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314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Market impact likely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E1B2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Route to Market Access/HEOR; assess potential patient-access implications and payer narratives.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53A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Safety or off-label narrative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314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Safety-related discussion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E1B2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Flag for Safety/PV review; do not assess causality.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 42"/>
          <p:cNvSpPr/>
          <p:nvPr/>
        </p:nvSpPr>
        <p:spPr>
          <a:xfrm>
            <a:off x="400050" y="3271503"/>
            <a:ext cx="8343900" cy="386097"/>
          </a:xfrm>
          <a:prstGeom prst="roundRect">
            <a:avLst>
              <a:gd name="adj" fmla="val 1480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3"/>
          <p:cNvSpPr/>
          <p:nvPr/>
        </p:nvSpPr>
        <p:spPr>
          <a:xfrm>
            <a:off x="400050" y="3275075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740378" y="3271503"/>
            <a:ext cx="0" cy="386097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00050" y="365402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10766" y="3271503"/>
            <a:ext cx="0" cy="386097"/>
          </a:xfrm>
          <a:prstGeom prst="line">
            <a:avLst/>
          </a:prstGeom>
          <a:noFill/>
          <a:ln w="21431">
            <a:solidFill>
              <a:srgbClr val="0053A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21494" y="3364483"/>
            <a:ext cx="200025" cy="200025"/>
          </a:xfrm>
          <a:prstGeom prst="ellipse">
            <a:avLst/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538639" y="338162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53" name="Text 49"/>
          <p:cNvSpPr/>
          <p:nvPr/>
        </p:nvSpPr>
        <p:spPr>
          <a:xfrm>
            <a:off x="792956" y="3342940"/>
            <a:ext cx="6436516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26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IMPORTANT GUARDRAIL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792956" y="3466170"/>
            <a:ext cx="5344418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Stakeholder input should teach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relevance and actionability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provide confidential strategy, patient-level data, or non-public information.</a:t>
            </a:r>
            <a:endParaRPr lang="en-US" sz="675" dirty="0"/>
          </a:p>
        </p:txBody>
      </p:sp>
      <p:sp>
        <p:nvSpPr>
          <p:cNvPr id="55" name="Text 51"/>
          <p:cNvSpPr/>
          <p:nvPr/>
        </p:nvSpPr>
        <p:spPr>
          <a:xfrm>
            <a:off x="400050" y="4930973"/>
            <a:ext cx="80447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 GBS Hackathon 2026 · Kick-off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8459093" y="4930973"/>
            <a:ext cx="395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08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7148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164" y="257175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4093" y="257175"/>
            <a:ext cx="85654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GUARDRAILS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77684" y="291108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684" y="262533"/>
            <a:ext cx="66626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050" y="603647"/>
            <a:ext cx="863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SAFE, FAIR AND USEFUL BY DESIGN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775097"/>
            <a:ext cx="8636000" cy="61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30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decision-support only — AI suggests; human experts review and decide.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1455093"/>
            <a:ext cx="4107656" cy="1765399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465808"/>
            <a:ext cx="4107656" cy="0"/>
          </a:xfrm>
          <a:prstGeom prst="line">
            <a:avLst/>
          </a:prstGeom>
          <a:noFill/>
          <a:ln w="21431">
            <a:solidFill>
              <a:srgbClr val="1F8A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4134" y="1455093"/>
            <a:ext cx="0" cy="1765399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050" y="3216920"/>
            <a:ext cx="4107656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3622" y="1455093"/>
            <a:ext cx="0" cy="1765399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519" y="1590824"/>
            <a:ext cx="521473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8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Must do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5781" y="1783705"/>
            <a:ext cx="3836194" cy="140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✓Use only public, mock, or synthetic data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✓Link every AI-generated summary back to the original source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✓Separate fact, interpretation, and speculation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✓Show confidence score, rationale, and audit trail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✓Use human review for high-priority signals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✓Flag safety, off-label, misuse, or product-quality cues for review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6294" y="1455093"/>
            <a:ext cx="4107656" cy="1765399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6294" y="1465808"/>
            <a:ext cx="4107656" cy="0"/>
          </a:xfrm>
          <a:prstGeom prst="line">
            <a:avLst/>
          </a:prstGeom>
          <a:noFill/>
          <a:ln w="21431">
            <a:solidFill>
              <a:srgbClr val="B1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40378" y="1455093"/>
            <a:ext cx="0" cy="1765399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294" y="3216920"/>
            <a:ext cx="4107656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9866" y="1455093"/>
            <a:ext cx="0" cy="1765399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349" y="1590824"/>
            <a:ext cx="675762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8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Must not 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2025" y="1783705"/>
            <a:ext cx="3836194" cy="140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✕Use confidential Novo Nordisk strategy, internal plans, or non-public information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✕Use patient-identifiable data or personal information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✕Reproduce paywalled or copyrighted content without permission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✕Generate external HCP, patient-facing, or promotional content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✕Make unsupported competitor comparisons or medical conclusions</a:t>
            </a:r>
            <a:endParaRPr lang="en-US" sz="800" dirty="0"/>
          </a:p>
          <a:p>
            <a:pPr algn="l" marL="342900" indent="-342900">
              <a:lnSpc>
                <a:spcPts val="1024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✕Assess safety causality or replace expert review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3622" y="3338364"/>
            <a:ext cx="2003822" cy="554310"/>
          </a:xfrm>
          <a:prstGeom prst="roundRect">
            <a:avLst>
              <a:gd name="adj" fmla="val 13747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7206" y="3427661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8995" y="344944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864394" y="3427661"/>
            <a:ext cx="14394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4394" y="3534817"/>
            <a:ext cx="1439466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Transparency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4394" y="3688407"/>
            <a:ext cx="1435278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Show how the output was generated.</a:t>
            </a:r>
            <a:endParaRPr lang="en-US" sz="647" dirty="0"/>
          </a:p>
        </p:txBody>
      </p:sp>
      <p:sp>
        <p:nvSpPr>
          <p:cNvPr id="29" name="Text 27"/>
          <p:cNvSpPr/>
          <p:nvPr/>
        </p:nvSpPr>
        <p:spPr>
          <a:xfrm>
            <a:off x="2514600" y="3338364"/>
            <a:ext cx="2003822" cy="554310"/>
          </a:xfrm>
          <a:prstGeom prst="roundRect">
            <a:avLst>
              <a:gd name="adj" fmla="val 13747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618184" y="3427661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639973" y="344944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2975372" y="3427661"/>
            <a:ext cx="14394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75372" y="3534817"/>
            <a:ext cx="136523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75372" y="3688407"/>
            <a:ext cx="1258068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sources linked end-to-end.</a:t>
            </a:r>
            <a:endParaRPr lang="en-US" sz="647" dirty="0"/>
          </a:p>
        </p:txBody>
      </p:sp>
      <p:sp>
        <p:nvSpPr>
          <p:cNvPr id="35" name="Text 33"/>
          <p:cNvSpPr/>
          <p:nvPr/>
        </p:nvSpPr>
        <p:spPr>
          <a:xfrm>
            <a:off x="4625578" y="3338364"/>
            <a:ext cx="2003822" cy="554310"/>
          </a:xfrm>
          <a:prstGeom prst="roundRect">
            <a:avLst>
              <a:gd name="adj" fmla="val 13747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29163" y="3427661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50951" y="344944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38" name="Text 36"/>
          <p:cNvSpPr/>
          <p:nvPr/>
        </p:nvSpPr>
        <p:spPr>
          <a:xfrm>
            <a:off x="5086350" y="3427661"/>
            <a:ext cx="14394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86350" y="3534817"/>
            <a:ext cx="126895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86350" y="3688407"/>
            <a:ext cx="1169343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decision support only.</a:t>
            </a:r>
            <a:endParaRPr lang="en-US" sz="647" dirty="0"/>
          </a:p>
        </p:txBody>
      </p:sp>
      <p:sp>
        <p:nvSpPr>
          <p:cNvPr id="41" name="Text 39"/>
          <p:cNvSpPr/>
          <p:nvPr/>
        </p:nvSpPr>
        <p:spPr>
          <a:xfrm>
            <a:off x="6736556" y="3338364"/>
            <a:ext cx="2003822" cy="554310"/>
          </a:xfrm>
          <a:prstGeom prst="roundRect">
            <a:avLst>
              <a:gd name="adj" fmla="val 13747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40141" y="3427661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61929" y="344944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44" name="Text 42"/>
          <p:cNvSpPr/>
          <p:nvPr/>
        </p:nvSpPr>
        <p:spPr>
          <a:xfrm>
            <a:off x="7197328" y="3427661"/>
            <a:ext cx="14394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97328" y="3534817"/>
            <a:ext cx="1190592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Human-in-the-loop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97328" y="3688407"/>
            <a:ext cx="1097133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suggests; experts decide.</a:t>
            </a:r>
            <a:endParaRPr lang="en-US" sz="647" dirty="0"/>
          </a:p>
        </p:txBody>
      </p:sp>
      <p:sp>
        <p:nvSpPr>
          <p:cNvPr id="47" name="Text 45"/>
          <p:cNvSpPr/>
          <p:nvPr/>
        </p:nvSpPr>
        <p:spPr>
          <a:xfrm>
            <a:off x="400050" y="4930973"/>
            <a:ext cx="80447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 GBS Hackathon 2026 · Kick-off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59093" y="4930973"/>
            <a:ext cx="395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08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7148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164" y="257175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4093" y="257175"/>
            <a:ext cx="177239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 &amp; EVALUATION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77684" y="291108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684" y="262533"/>
            <a:ext cx="66626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050" y="603647"/>
            <a:ext cx="863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TEAMS NEED TO SUBMIT AND HOW WE WILL EVALUATE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775097"/>
            <a:ext cx="8343900" cy="61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30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practical prototype, source-linked signal examples, validation metrics, and clear guardrails.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1440805"/>
            <a:ext cx="3779044" cy="2443163"/>
          </a:xfrm>
          <a:prstGeom prst="roundRect">
            <a:avLst>
              <a:gd name="adj" fmla="val 31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451521"/>
            <a:ext cx="3779044" cy="0"/>
          </a:xfrm>
          <a:prstGeom prst="line">
            <a:avLst/>
          </a:prstGeom>
          <a:noFill/>
          <a:ln w="21431">
            <a:solidFill>
              <a:srgbClr val="00A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75522" y="1440805"/>
            <a:ext cx="0" cy="2443163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050" y="3880396"/>
            <a:ext cx="3779044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3622" y="1440805"/>
            <a:ext cx="0" cy="2443163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7231" y="1576536"/>
            <a:ext cx="120188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8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Required deliverables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3704409" y="1578322"/>
            <a:ext cx="3984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ITEMS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521494" y="1783705"/>
            <a:ext cx="3536156" cy="211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49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12-page concept note and prototype timeline</a:t>
            </a:r>
            <a:endParaRPr lang="en-US" sz="800" dirty="0"/>
          </a:p>
          <a:p>
            <a:pPr algn="l" marL="342900" indent="-342900">
              <a:lnSpc>
                <a:spcPts val="949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2Working or clickable prototype</a:t>
            </a:r>
            <a:endParaRPr lang="en-US" sz="800" dirty="0"/>
          </a:p>
          <a:p>
            <a:pPr algn="l" marL="342900" indent="-342900">
              <a:lnSpc>
                <a:spcPts val="949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3Sample data schema and source list</a:t>
            </a:r>
            <a:endParaRPr lang="en-US" sz="800" dirty="0"/>
          </a:p>
          <a:p>
            <a:pPr algn="l" marL="342900" indent="-342900">
              <a:lnSpc>
                <a:spcPts val="949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4Dashboard demo with signal cards</a:t>
            </a:r>
            <a:endParaRPr lang="en-US" sz="800" dirty="0"/>
          </a:p>
          <a:p>
            <a:pPr algn="l" marL="342900" indent="-342900">
              <a:lnSpc>
                <a:spcPts val="949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5AI baseline vs stakeholder-calibrated example</a:t>
            </a:r>
            <a:endParaRPr lang="en-US" sz="800" dirty="0"/>
          </a:p>
          <a:p>
            <a:pPr algn="l" marL="342900" indent="-342900">
              <a:lnSpc>
                <a:spcPts val="949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6Validation metrics and architecture diagram</a:t>
            </a:r>
            <a:endParaRPr lang="en-US" sz="800" dirty="0"/>
          </a:p>
          <a:p>
            <a:pPr algn="l" marL="342900" indent="-342900">
              <a:lnSpc>
                <a:spcPts val="949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7Risk and guardrail summary</a:t>
            </a:r>
            <a:endParaRPr lang="en-US" sz="800" dirty="0"/>
          </a:p>
          <a:p>
            <a:pPr algn="l" marL="342900" indent="-342900">
              <a:lnSpc>
                <a:spcPts val="949"/>
              </a:lnSpc>
              <a:buSzPct val="100000"/>
              <a:buChar char="•"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8Final 5–7 slide presentation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07681" y="1440805"/>
            <a:ext cx="4436269" cy="2443163"/>
          </a:xfrm>
          <a:prstGeom prst="roundRect">
            <a:avLst>
              <a:gd name="adj" fmla="val 31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07681" y="1451521"/>
            <a:ext cx="4436269" cy="0"/>
          </a:xfrm>
          <a:prstGeom prst="line">
            <a:avLst/>
          </a:prstGeom>
          <a:noFill/>
          <a:ln w="21431">
            <a:solidFill>
              <a:srgbClr val="0053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40378" y="1440805"/>
            <a:ext cx="0" cy="2443163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7681" y="3880396"/>
            <a:ext cx="4436269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1253" y="1440805"/>
            <a:ext cx="0" cy="2443163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4863" y="1576536"/>
            <a:ext cx="924920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8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rubric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8117007" y="1578322"/>
            <a:ext cx="5708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 POINTS</a:t>
            </a:r>
            <a:endParaRPr lang="en-US" sz="619" dirty="0"/>
          </a:p>
        </p:txBody>
      </p:sp>
      <p:sp>
        <p:nvSpPr>
          <p:cNvPr id="24" name="Shape 22"/>
          <p:cNvSpPr/>
          <p:nvPr/>
        </p:nvSpPr>
        <p:spPr>
          <a:xfrm>
            <a:off x="4429125" y="1994446"/>
            <a:ext cx="4193381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429125" y="1829246"/>
            <a:ext cx="2754344" cy="122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signal detection &amp; classification accuracy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65169" y="1858714"/>
            <a:ext cx="1071563" cy="57150"/>
          </a:xfrm>
          <a:prstGeom prst="roundRect">
            <a:avLst>
              <a:gd name="adj" fmla="val 16650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5169" y="1858714"/>
            <a:ext cx="1071563" cy="5715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110442" y="1822996"/>
            <a:ext cx="5120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pts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429125" y="2208758"/>
            <a:ext cx="4193381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4429125" y="2043559"/>
            <a:ext cx="2754344" cy="122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 understanding &amp; Haemophilia relevance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065169" y="2073027"/>
            <a:ext cx="1071563" cy="57150"/>
          </a:xfrm>
          <a:prstGeom prst="roundRect">
            <a:avLst>
              <a:gd name="adj" fmla="val 16650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169" y="2073027"/>
            <a:ext cx="803672" cy="5715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110442" y="2037308"/>
            <a:ext cx="5120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pts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429125" y="2423071"/>
            <a:ext cx="4193381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4429125" y="2257871"/>
            <a:ext cx="2754344" cy="122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traceability &amp; summary quality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7065169" y="2287339"/>
            <a:ext cx="1071563" cy="57150"/>
          </a:xfrm>
          <a:prstGeom prst="roundRect">
            <a:avLst>
              <a:gd name="adj" fmla="val 16650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169" y="2287339"/>
            <a:ext cx="803672" cy="5715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110442" y="2251621"/>
            <a:ext cx="5120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pts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4429125" y="2637383"/>
            <a:ext cx="4193381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40" name="Text 35"/>
          <p:cNvSpPr/>
          <p:nvPr/>
        </p:nvSpPr>
        <p:spPr>
          <a:xfrm>
            <a:off x="4429125" y="2472184"/>
            <a:ext cx="2754344" cy="122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Stakeholder calibration &amp; learning loop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7065169" y="2501652"/>
            <a:ext cx="1071563" cy="57150"/>
          </a:xfrm>
          <a:prstGeom prst="roundRect">
            <a:avLst>
              <a:gd name="adj" fmla="val 16650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169" y="2501652"/>
            <a:ext cx="803672" cy="5715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110442" y="2465933"/>
            <a:ext cx="5120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pts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4429125" y="2851696"/>
            <a:ext cx="4193381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45" name="Text 39"/>
          <p:cNvSpPr/>
          <p:nvPr/>
        </p:nvSpPr>
        <p:spPr>
          <a:xfrm>
            <a:off x="4429125" y="2686496"/>
            <a:ext cx="2754344" cy="122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Cross-functional usefulness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7065169" y="2715964"/>
            <a:ext cx="1071563" cy="57150"/>
          </a:xfrm>
          <a:prstGeom prst="roundRect">
            <a:avLst>
              <a:gd name="adj" fmla="val 16650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169" y="2715964"/>
            <a:ext cx="535781" cy="5715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8110442" y="2680246"/>
            <a:ext cx="5120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pts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4429125" y="3066008"/>
            <a:ext cx="4193381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50" name="Text 43"/>
          <p:cNvSpPr/>
          <p:nvPr/>
        </p:nvSpPr>
        <p:spPr>
          <a:xfrm>
            <a:off x="4429125" y="2900809"/>
            <a:ext cx="2754344" cy="122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UX and adoption potential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7065169" y="2930277"/>
            <a:ext cx="1071563" cy="57150"/>
          </a:xfrm>
          <a:prstGeom prst="roundRect">
            <a:avLst>
              <a:gd name="adj" fmla="val 16650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169" y="2930277"/>
            <a:ext cx="535781" cy="5715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8110442" y="2894558"/>
            <a:ext cx="5120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pts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4429125" y="3280321"/>
            <a:ext cx="4193381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55" name="Text 47"/>
          <p:cNvSpPr/>
          <p:nvPr/>
        </p:nvSpPr>
        <p:spPr>
          <a:xfrm>
            <a:off x="4429125" y="3115121"/>
            <a:ext cx="2754344" cy="122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Compliance, safety &amp; governance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7065169" y="3144589"/>
            <a:ext cx="1071563" cy="57150"/>
          </a:xfrm>
          <a:prstGeom prst="roundRect">
            <a:avLst>
              <a:gd name="adj" fmla="val 16650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5169" y="3144589"/>
            <a:ext cx="535781" cy="5715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8110442" y="3108871"/>
            <a:ext cx="5120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pts</a:t>
            </a:r>
            <a:endParaRPr lang="en-US" sz="800" dirty="0"/>
          </a:p>
        </p:txBody>
      </p:sp>
      <p:sp>
        <p:nvSpPr>
          <p:cNvPr id="59" name="Shape 50"/>
          <p:cNvSpPr/>
          <p:nvPr/>
        </p:nvSpPr>
        <p:spPr>
          <a:xfrm>
            <a:off x="4429125" y="3494633"/>
            <a:ext cx="4193381" cy="0"/>
          </a:xfrm>
          <a:prstGeom prst="line">
            <a:avLst/>
          </a:prstGeom>
          <a:noFill/>
          <a:ln w="7144">
            <a:solidFill>
              <a:srgbClr val="ECF1F7"/>
            </a:solidFill>
            <a:prstDash val="dash"/>
          </a:ln>
        </p:spPr>
      </p:sp>
      <p:sp>
        <p:nvSpPr>
          <p:cNvPr id="60" name="Text 51"/>
          <p:cNvSpPr/>
          <p:nvPr/>
        </p:nvSpPr>
        <p:spPr>
          <a:xfrm>
            <a:off x="4429125" y="3329434"/>
            <a:ext cx="2754344" cy="122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Scalability beyond Haemophilia</a:t>
            </a:r>
            <a:endParaRPr lang="en-US" sz="800" dirty="0"/>
          </a:p>
        </p:txBody>
      </p:sp>
      <p:sp>
        <p:nvSpPr>
          <p:cNvPr id="61" name="Text 52"/>
          <p:cNvSpPr/>
          <p:nvPr/>
        </p:nvSpPr>
        <p:spPr>
          <a:xfrm>
            <a:off x="7065169" y="3358902"/>
            <a:ext cx="1071563" cy="57150"/>
          </a:xfrm>
          <a:prstGeom prst="roundRect">
            <a:avLst>
              <a:gd name="adj" fmla="val 16650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5169" y="3358902"/>
            <a:ext cx="267891" cy="57150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7990427" y="3323183"/>
            <a:ext cx="63207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pts</a:t>
            </a:r>
            <a:endParaRPr lang="en-US" sz="800" dirty="0"/>
          </a:p>
        </p:txBody>
      </p:sp>
      <p:sp>
        <p:nvSpPr>
          <p:cNvPr id="64" name="Text 54"/>
          <p:cNvSpPr/>
          <p:nvPr/>
        </p:nvSpPr>
        <p:spPr>
          <a:xfrm>
            <a:off x="7619836" y="3557963"/>
            <a:ext cx="1025530" cy="218027"/>
          </a:xfrm>
          <a:prstGeom prst="roundRect">
            <a:avLst>
              <a:gd name="adj" fmla="val 436435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5"/>
          <p:cNvSpPr/>
          <p:nvPr/>
        </p:nvSpPr>
        <p:spPr>
          <a:xfrm>
            <a:off x="7871296" y="3612505"/>
            <a:ext cx="751210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spc="26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Total — 100 pts</a:t>
            </a:r>
            <a:endParaRPr lang="en-US" sz="647" dirty="0"/>
          </a:p>
        </p:txBody>
      </p:sp>
      <p:sp>
        <p:nvSpPr>
          <p:cNvPr id="66" name="Text 56"/>
          <p:cNvSpPr/>
          <p:nvPr/>
        </p:nvSpPr>
        <p:spPr>
          <a:xfrm>
            <a:off x="7728421" y="361697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7" name="Text 57"/>
          <p:cNvSpPr/>
          <p:nvPr/>
        </p:nvSpPr>
        <p:spPr>
          <a:xfrm>
            <a:off x="400050" y="3983980"/>
            <a:ext cx="12037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68" name="Text 58"/>
          <p:cNvSpPr/>
          <p:nvPr/>
        </p:nvSpPr>
        <p:spPr>
          <a:xfrm>
            <a:off x="1348048" y="4044702"/>
            <a:ext cx="7395902" cy="7144"/>
          </a:xfrm>
          <a:prstGeom prst="rect">
            <a:avLst/>
          </a:prstGeom>
          <a:solidFill>
            <a:srgbClr val="DCE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9"/>
          <p:cNvSpPr/>
          <p:nvPr/>
        </p:nvSpPr>
        <p:spPr>
          <a:xfrm>
            <a:off x="403622" y="4216152"/>
            <a:ext cx="1593056" cy="451842"/>
          </a:xfrm>
          <a:prstGeom prst="roundRect">
            <a:avLst>
              <a:gd name="adj" fmla="val 16864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492919" y="4334917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1"/>
          <p:cNvSpPr/>
          <p:nvPr/>
        </p:nvSpPr>
        <p:spPr>
          <a:xfrm>
            <a:off x="506849" y="43488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266" dirty="0"/>
          </a:p>
        </p:txBody>
      </p:sp>
      <p:sp>
        <p:nvSpPr>
          <p:cNvPr id="72" name="Text 62"/>
          <p:cNvSpPr/>
          <p:nvPr/>
        </p:nvSpPr>
        <p:spPr>
          <a:xfrm>
            <a:off x="778669" y="4338042"/>
            <a:ext cx="11287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73" name="Text 63"/>
          <p:cNvSpPr/>
          <p:nvPr/>
        </p:nvSpPr>
        <p:spPr>
          <a:xfrm>
            <a:off x="778669" y="4452342"/>
            <a:ext cx="90638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source-linked summaries</a:t>
            </a:r>
            <a:endParaRPr lang="en-US" sz="600" dirty="0"/>
          </a:p>
        </p:txBody>
      </p:sp>
      <p:sp>
        <p:nvSpPr>
          <p:cNvPr id="74" name="Text 64"/>
          <p:cNvSpPr/>
          <p:nvPr/>
        </p:nvSpPr>
        <p:spPr>
          <a:xfrm>
            <a:off x="2089547" y="4216152"/>
            <a:ext cx="1593056" cy="451842"/>
          </a:xfrm>
          <a:prstGeom prst="roundRect">
            <a:avLst>
              <a:gd name="adj" fmla="val 16864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5"/>
          <p:cNvSpPr/>
          <p:nvPr/>
        </p:nvSpPr>
        <p:spPr>
          <a:xfrm>
            <a:off x="2178844" y="4334917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6"/>
          <p:cNvSpPr/>
          <p:nvPr/>
        </p:nvSpPr>
        <p:spPr>
          <a:xfrm>
            <a:off x="2192774" y="43488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77" name="Text 67"/>
          <p:cNvSpPr/>
          <p:nvPr/>
        </p:nvSpPr>
        <p:spPr>
          <a:xfrm>
            <a:off x="2464594" y="4338042"/>
            <a:ext cx="11287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85%</a:t>
            </a:r>
            <a:endParaRPr lang="en-US" sz="800" dirty="0"/>
          </a:p>
        </p:txBody>
      </p:sp>
      <p:sp>
        <p:nvSpPr>
          <p:cNvPr id="78" name="Text 68"/>
          <p:cNvSpPr/>
          <p:nvPr/>
        </p:nvSpPr>
        <p:spPr>
          <a:xfrm>
            <a:off x="2464594" y="4452342"/>
            <a:ext cx="81073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classification accuracy</a:t>
            </a:r>
            <a:endParaRPr lang="en-US" sz="600" dirty="0"/>
          </a:p>
        </p:txBody>
      </p:sp>
      <p:sp>
        <p:nvSpPr>
          <p:cNvPr id="79" name="Text 69"/>
          <p:cNvSpPr/>
          <p:nvPr/>
        </p:nvSpPr>
        <p:spPr>
          <a:xfrm>
            <a:off x="3775472" y="4216152"/>
            <a:ext cx="1593056" cy="451842"/>
          </a:xfrm>
          <a:prstGeom prst="roundRect">
            <a:avLst>
              <a:gd name="adj" fmla="val 16864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0"/>
          <p:cNvSpPr/>
          <p:nvPr/>
        </p:nvSpPr>
        <p:spPr>
          <a:xfrm>
            <a:off x="3864769" y="4334917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1"/>
          <p:cNvSpPr/>
          <p:nvPr/>
        </p:nvSpPr>
        <p:spPr>
          <a:xfrm>
            <a:off x="3878699" y="43488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82" name="Text 72"/>
          <p:cNvSpPr/>
          <p:nvPr/>
        </p:nvSpPr>
        <p:spPr>
          <a:xfrm>
            <a:off x="4150519" y="4338042"/>
            <a:ext cx="11287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≤ 5 min</a:t>
            </a:r>
            <a:endParaRPr lang="en-US" sz="800" dirty="0"/>
          </a:p>
        </p:txBody>
      </p:sp>
      <p:sp>
        <p:nvSpPr>
          <p:cNvPr id="83" name="Text 73"/>
          <p:cNvSpPr/>
          <p:nvPr/>
        </p:nvSpPr>
        <p:spPr>
          <a:xfrm>
            <a:off x="4150519" y="4452342"/>
            <a:ext cx="9438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 identify top weekly signals</a:t>
            </a:r>
            <a:endParaRPr lang="en-US" sz="600" dirty="0"/>
          </a:p>
        </p:txBody>
      </p:sp>
      <p:sp>
        <p:nvSpPr>
          <p:cNvPr id="84" name="Text 74"/>
          <p:cNvSpPr/>
          <p:nvPr/>
        </p:nvSpPr>
        <p:spPr>
          <a:xfrm>
            <a:off x="5461397" y="4216152"/>
            <a:ext cx="1593056" cy="451842"/>
          </a:xfrm>
          <a:prstGeom prst="roundRect">
            <a:avLst>
              <a:gd name="adj" fmla="val 16864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75"/>
          <p:cNvSpPr/>
          <p:nvPr/>
        </p:nvSpPr>
        <p:spPr>
          <a:xfrm>
            <a:off x="5550694" y="4334917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6"/>
          <p:cNvSpPr/>
          <p:nvPr/>
        </p:nvSpPr>
        <p:spPr>
          <a:xfrm>
            <a:off x="5564624" y="43488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87" name="Text 77"/>
          <p:cNvSpPr/>
          <p:nvPr/>
        </p:nvSpPr>
        <p:spPr>
          <a:xfrm>
            <a:off x="5836444" y="4338042"/>
            <a:ext cx="11287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800" dirty="0"/>
          </a:p>
        </p:txBody>
      </p:sp>
      <p:sp>
        <p:nvSpPr>
          <p:cNvPr id="88" name="Text 78"/>
          <p:cNvSpPr/>
          <p:nvPr/>
        </p:nvSpPr>
        <p:spPr>
          <a:xfrm>
            <a:off x="5836444" y="4452342"/>
            <a:ext cx="8835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confidential or patient data</a:t>
            </a:r>
            <a:endParaRPr lang="en-US" sz="600" dirty="0"/>
          </a:p>
        </p:txBody>
      </p:sp>
      <p:sp>
        <p:nvSpPr>
          <p:cNvPr id="89" name="Text 79"/>
          <p:cNvSpPr/>
          <p:nvPr/>
        </p:nvSpPr>
        <p:spPr>
          <a:xfrm>
            <a:off x="7147322" y="4216152"/>
            <a:ext cx="1593056" cy="451842"/>
          </a:xfrm>
          <a:prstGeom prst="roundRect">
            <a:avLst>
              <a:gd name="adj" fmla="val 16864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0"/>
          <p:cNvSpPr/>
          <p:nvPr/>
        </p:nvSpPr>
        <p:spPr>
          <a:xfrm>
            <a:off x="7236619" y="4334917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1"/>
          <p:cNvSpPr/>
          <p:nvPr/>
        </p:nvSpPr>
        <p:spPr>
          <a:xfrm>
            <a:off x="7250549" y="43488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66" dirty="0"/>
          </a:p>
        </p:txBody>
      </p:sp>
      <p:sp>
        <p:nvSpPr>
          <p:cNvPr id="92" name="Text 82"/>
          <p:cNvSpPr/>
          <p:nvPr/>
        </p:nvSpPr>
        <p:spPr>
          <a:xfrm>
            <a:off x="7522369" y="4291161"/>
            <a:ext cx="11287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800" dirty="0"/>
          </a:p>
        </p:txBody>
      </p:sp>
      <p:sp>
        <p:nvSpPr>
          <p:cNvPr id="93" name="Text 83"/>
          <p:cNvSpPr/>
          <p:nvPr/>
        </p:nvSpPr>
        <p:spPr>
          <a:xfrm>
            <a:off x="7522369" y="4405461"/>
            <a:ext cx="112871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stakeholder-calibrated improvement</a:t>
            </a:r>
            <a:endParaRPr lang="en-US" sz="800" dirty="0"/>
          </a:p>
        </p:txBody>
      </p:sp>
      <p:sp>
        <p:nvSpPr>
          <p:cNvPr id="94" name="Text 84"/>
          <p:cNvSpPr/>
          <p:nvPr/>
        </p:nvSpPr>
        <p:spPr>
          <a:xfrm>
            <a:off x="400050" y="4930973"/>
            <a:ext cx="80447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 GBS Hackathon 2026 · Kick-off</a:t>
            </a:r>
            <a:endParaRPr lang="en-US" sz="800" dirty="0"/>
          </a:p>
        </p:txBody>
      </p:sp>
      <p:sp>
        <p:nvSpPr>
          <p:cNvPr id="95" name="Text 85"/>
          <p:cNvSpPr/>
          <p:nvPr/>
        </p:nvSpPr>
        <p:spPr>
          <a:xfrm>
            <a:off x="8459093" y="4930973"/>
            <a:ext cx="395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08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7148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57175"/>
            <a:ext cx="1020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2078" y="257175"/>
            <a:ext cx="66368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JOURNEY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77684" y="291108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684" y="262533"/>
            <a:ext cx="66626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050" y="603647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AUGUST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775097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30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Journey starts today!!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1115095"/>
            <a:ext cx="71437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1-month sprint from kick-off to hackathon finale.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1568165" y="2688171"/>
            <a:ext cx="6007671" cy="21431"/>
          </a:xfrm>
          <a:prstGeom prst="roundRect">
            <a:avLst>
              <a:gd name="adj" fmla="val 88890"/>
            </a:avLst>
          </a:prstGeom>
          <a:solidFill>
            <a:srgbClr val="00A6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3170374"/>
            <a:ext cx="1907381" cy="0"/>
          </a:xfrm>
          <a:prstGeom prst="line">
            <a:avLst/>
          </a:prstGeom>
          <a:noFill/>
          <a:ln w="21431">
            <a:solidFill>
              <a:srgbClr val="00A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61009" y="3159658"/>
            <a:ext cx="0" cy="45720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13286"/>
            <a:ext cx="1907381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772" y="3159658"/>
            <a:ext cx="0" cy="45720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4606" y="3170374"/>
            <a:ext cx="1907381" cy="0"/>
          </a:xfrm>
          <a:prstGeom prst="line">
            <a:avLst/>
          </a:prstGeom>
          <a:noFill/>
          <a:ln w="21431">
            <a:solidFill>
              <a:srgbClr val="00A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8416" y="3159658"/>
            <a:ext cx="0" cy="45720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4606" y="3613286"/>
            <a:ext cx="1907381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8178" y="3159658"/>
            <a:ext cx="0" cy="45720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2013" y="3288246"/>
            <a:ext cx="1907381" cy="0"/>
          </a:xfrm>
          <a:prstGeom prst="line">
            <a:avLst/>
          </a:prstGeom>
          <a:noFill/>
          <a:ln w="21431">
            <a:solidFill>
              <a:srgbClr val="00A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5822" y="3277530"/>
            <a:ext cx="0" cy="45720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2013" y="3731158"/>
            <a:ext cx="1907381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5584" y="3277530"/>
            <a:ext cx="0" cy="45720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9419" y="3288246"/>
            <a:ext cx="1907381" cy="0"/>
          </a:xfrm>
          <a:prstGeom prst="line">
            <a:avLst/>
          </a:prstGeom>
          <a:noFill/>
          <a:ln w="21431">
            <a:solidFill>
              <a:srgbClr val="005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3228" y="3277530"/>
            <a:ext cx="0" cy="45720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79419" y="3731158"/>
            <a:ext cx="1907381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82991" y="3277530"/>
            <a:ext cx="0" cy="45720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622" y="3909752"/>
            <a:ext cx="8336756" cy="312539"/>
          </a:xfrm>
          <a:prstGeom prst="roundRect">
            <a:avLst>
              <a:gd name="adj" fmla="val 24381"/>
            </a:avLst>
          </a:prstGeom>
          <a:solidFill>
            <a:srgbClr val="F4F7FB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93951" y="40017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593976" y="3999049"/>
            <a:ext cx="5014243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Qualifier and Finale dates to be communicated soon.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0050" y="4930973"/>
            <a:ext cx="77976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 GBS Hackathon 2026 · Kick-off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93182" y="4930973"/>
            <a:ext cx="6767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Journey · 2026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18049" y="2102383"/>
            <a:ext cx="1185572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0302" y="2232757"/>
            <a:ext cx="138106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05020" y="2379204"/>
            <a:ext cx="10116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9"/>
              </a:lnSpc>
              <a:buNone/>
            </a:pPr>
            <a:r>
              <a:rPr lang="en-US" sz="759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 Day Kick Off</a:t>
            </a:r>
            <a:endParaRPr lang="en-US" sz="759" dirty="0"/>
          </a:p>
        </p:txBody>
      </p:sp>
      <p:sp>
        <p:nvSpPr>
          <p:cNvPr id="35" name="Text 33"/>
          <p:cNvSpPr/>
          <p:nvPr/>
        </p:nvSpPr>
        <p:spPr>
          <a:xfrm>
            <a:off x="457200" y="3159658"/>
            <a:ext cx="1907381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" y="3159658"/>
            <a:ext cx="1907381" cy="457200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ctr"/>
          <a:lstStyle/>
          <a:p>
            <a:pPr algn="ct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 — official hackathon kick-off and brief.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863517" y="2102383"/>
            <a:ext cx="1309449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55556" y="2232757"/>
            <a:ext cx="15253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959575" y="2379204"/>
            <a:ext cx="111733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9"/>
              </a:lnSpc>
              <a:buNone/>
            </a:pPr>
            <a:r>
              <a:rPr lang="en-US" sz="759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Mentor Connect Starts</a:t>
            </a:r>
            <a:endParaRPr lang="en-US" sz="759" dirty="0"/>
          </a:p>
        </p:txBody>
      </p:sp>
      <p:sp>
        <p:nvSpPr>
          <p:cNvPr id="40" name="Text 38"/>
          <p:cNvSpPr/>
          <p:nvPr/>
        </p:nvSpPr>
        <p:spPr>
          <a:xfrm>
            <a:off x="2564606" y="3159658"/>
            <a:ext cx="1907381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564606" y="3159658"/>
            <a:ext cx="1907381" cy="457200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ctr"/>
          <a:lstStyle/>
          <a:p>
            <a:pPr algn="ct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Teams paired with NN and college mentors.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44498" y="2102383"/>
            <a:ext cx="196241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33950" y="2232757"/>
            <a:ext cx="198350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→ SEP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11328" y="2379204"/>
            <a:ext cx="1428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Continue Mentor Connects (1 month)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72013" y="3277530"/>
            <a:ext cx="1907381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672013" y="3277530"/>
            <a:ext cx="1907381" cy="457200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ctr"/>
          <a:lstStyle/>
          <a:p>
            <a:pPr algn="ct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month of structured mentorship and feedback rounds.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51904" y="2102383"/>
            <a:ext cx="196241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75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90109" y="2232757"/>
            <a:ext cx="22860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00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18734" y="2379204"/>
            <a:ext cx="1428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Qualifier Round → Hackathon Finale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79419" y="3277530"/>
            <a:ext cx="1907381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79419" y="3277530"/>
            <a:ext cx="1907381" cy="457200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ctr"/>
          <a:lstStyle/>
          <a:p>
            <a:pPr algn="ct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Qualifier round followed by the Hackathon Finale.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225153" y="2631021"/>
            <a:ext cx="371475" cy="371475"/>
          </a:xfrm>
          <a:prstGeom prst="ellipse">
            <a:avLst/>
          </a:prstGeom>
          <a:solidFill>
            <a:srgbClr val="00A6E8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7150" dir="5400000">
              <a:srgbClr val="00A6E8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265873" y="2671740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969" dirty="0"/>
          </a:p>
        </p:txBody>
      </p:sp>
      <p:sp>
        <p:nvSpPr>
          <p:cNvPr id="54" name="Text 52"/>
          <p:cNvSpPr/>
          <p:nvPr/>
        </p:nvSpPr>
        <p:spPr>
          <a:xfrm>
            <a:off x="3332559" y="2631021"/>
            <a:ext cx="371475" cy="371475"/>
          </a:xfrm>
          <a:prstGeom prst="ellipse">
            <a:avLst/>
          </a:prstGeom>
          <a:solidFill>
            <a:srgbClr val="00A6E8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7150" dir="5400000">
              <a:srgbClr val="00A6E8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373279" y="2671740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969" dirty="0"/>
          </a:p>
        </p:txBody>
      </p:sp>
      <p:sp>
        <p:nvSpPr>
          <p:cNvPr id="56" name="Text 54"/>
          <p:cNvSpPr/>
          <p:nvPr/>
        </p:nvSpPr>
        <p:spPr>
          <a:xfrm>
            <a:off x="5439966" y="2748893"/>
            <a:ext cx="371475" cy="371475"/>
          </a:xfrm>
          <a:prstGeom prst="ellipse">
            <a:avLst/>
          </a:prstGeom>
          <a:solidFill>
            <a:srgbClr val="00A6E8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7150" dir="5400000">
              <a:srgbClr val="00A6E8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480685" y="2789612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969" dirty="0"/>
          </a:p>
        </p:txBody>
      </p:sp>
      <p:sp>
        <p:nvSpPr>
          <p:cNvPr id="58" name="Text 56"/>
          <p:cNvSpPr/>
          <p:nvPr/>
        </p:nvSpPr>
        <p:spPr>
          <a:xfrm>
            <a:off x="7547372" y="2748893"/>
            <a:ext cx="371475" cy="371475"/>
          </a:xfrm>
          <a:prstGeom prst="ellipse">
            <a:avLst/>
          </a:prstGeom>
          <a:solidFill>
            <a:srgbClr val="0053A0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7150" dir="5400000">
              <a:srgbClr val="0053A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588091" y="2789612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969" dirty="0"/>
          </a:p>
        </p:txBody>
      </p:sp>
      <p:sp>
        <p:nvSpPr>
          <p:cNvPr id="60" name="Text 58"/>
          <p:cNvSpPr/>
          <p:nvPr/>
        </p:nvSpPr>
        <p:spPr>
          <a:xfrm>
            <a:off x="6594123" y="3109652"/>
            <a:ext cx="163635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46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471488"/>
            <a:ext cx="8343900" cy="0"/>
          </a:xfrm>
          <a:prstGeom prst="line">
            <a:avLst/>
          </a:prstGeom>
          <a:noFill/>
          <a:ln w="7144">
            <a:solidFill>
              <a:srgbClr val="DC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57175"/>
            <a:ext cx="1020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2078" y="257175"/>
            <a:ext cx="138980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COMPETITION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77684" y="291108"/>
            <a:ext cx="71438" cy="71438"/>
          </a:xfrm>
          <a:prstGeom prst="roundRect">
            <a:avLst>
              <a:gd name="adj" fmla="val 26666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7684" y="262533"/>
            <a:ext cx="66626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Novo Nordisk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00050" y="603647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A6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AUGUST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775097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30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Guide to the competition.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1115095"/>
            <a:ext cx="77152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Ensuring a fair &amp; engaging competition.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03622" y="1374056"/>
            <a:ext cx="2697882" cy="1457883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4682" y="1449065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6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21494" y="147764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0426" y="150657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892969" y="1540148"/>
            <a:ext cx="20906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Eligibility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521494" y="1820540"/>
            <a:ext cx="2571866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Students of Graduate and Postgraduate programs.</a:t>
            </a:r>
            <a:endParaRPr lang="en-US" sz="703" dirty="0"/>
          </a:p>
        </p:txBody>
      </p:sp>
      <p:sp>
        <p:nvSpPr>
          <p:cNvPr id="16" name="Text 14"/>
          <p:cNvSpPr/>
          <p:nvPr/>
        </p:nvSpPr>
        <p:spPr>
          <a:xfrm>
            <a:off x="3222947" y="1374056"/>
            <a:ext cx="2697993" cy="1457883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24119" y="1449065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6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340819" y="147764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69752" y="150657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20" name="Text 18"/>
          <p:cNvSpPr/>
          <p:nvPr/>
        </p:nvSpPr>
        <p:spPr>
          <a:xfrm>
            <a:off x="3712294" y="1540148"/>
            <a:ext cx="20907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Formation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3340819" y="1820540"/>
            <a:ext cx="246225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Must be 5 members. Individual entries or teams with fewer than 5 participants are not eligible.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42385" y="1374056"/>
            <a:ext cx="2697882" cy="1457883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543444" y="1449065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6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6160257" y="147764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89189" y="150657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6531732" y="1540148"/>
            <a:ext cx="20906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Mentorship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6160257" y="1820540"/>
            <a:ext cx="246213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College professors and Novo Nordisk mentors provide guidance and support throughout.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3622" y="2953383"/>
            <a:ext cx="2697882" cy="1457883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904682" y="3028392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6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21494" y="3056967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0426" y="30858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892969" y="3119475"/>
            <a:ext cx="20906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521494" y="3399867"/>
            <a:ext cx="246213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Functional prototype or proof of concept, concise presentation, project report.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22947" y="2953383"/>
            <a:ext cx="2697993" cy="1457883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24119" y="3028392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6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340819" y="3056967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69752" y="30858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38" name="Text 36"/>
          <p:cNvSpPr/>
          <p:nvPr/>
        </p:nvSpPr>
        <p:spPr>
          <a:xfrm>
            <a:off x="3712294" y="3119475"/>
            <a:ext cx="20907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Judging Criteria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3340819" y="3399867"/>
            <a:ext cx="257197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Winners will be evaluated on: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40819" y="3591462"/>
            <a:ext cx="530200" cy="174022"/>
          </a:xfrm>
          <a:prstGeom prst="roundRect">
            <a:avLst>
              <a:gd name="adj" fmla="val 5467972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270436" y="3600785"/>
            <a:ext cx="6709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13882" y="3591462"/>
            <a:ext cx="1042541" cy="174022"/>
          </a:xfrm>
          <a:prstGeom prst="roundRect">
            <a:avLst>
              <a:gd name="adj" fmla="val 5467972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913882" y="3600785"/>
            <a:ext cx="10425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Implementation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99286" y="3591462"/>
            <a:ext cx="743843" cy="174022"/>
          </a:xfrm>
          <a:prstGeom prst="roundRect">
            <a:avLst>
              <a:gd name="adj" fmla="val 5467972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99286" y="3600785"/>
            <a:ext cx="7438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40819" y="3789701"/>
            <a:ext cx="517475" cy="174022"/>
          </a:xfrm>
          <a:prstGeom prst="roundRect">
            <a:avLst>
              <a:gd name="adj" fmla="val 5467972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232903" y="3799024"/>
            <a:ext cx="7333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Feasibility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01157" y="3789701"/>
            <a:ext cx="858255" cy="174022"/>
          </a:xfrm>
          <a:prstGeom prst="roundRect">
            <a:avLst>
              <a:gd name="adj" fmla="val 5467972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901157" y="3799024"/>
            <a:ext cx="858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Presentation Quality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42385" y="2953383"/>
            <a:ext cx="2697882" cy="1457883"/>
          </a:xfrm>
          <a:prstGeom prst="roundRect">
            <a:avLst>
              <a:gd name="adj" fmla="val 5227"/>
            </a:avLst>
          </a:prstGeom>
          <a:solidFill>
            <a:srgbClr val="FFFFFF"/>
          </a:solidFill>
          <a:ln w="7144">
            <a:solidFill>
              <a:srgbClr val="DCE4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543444" y="3028392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6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160257" y="3056967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AF1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89189" y="30858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53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54" name="Text 52"/>
          <p:cNvSpPr/>
          <p:nvPr/>
        </p:nvSpPr>
        <p:spPr>
          <a:xfrm>
            <a:off x="6531732" y="3119475"/>
            <a:ext cx="20906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4" kern="0" dirty="0">
                <a:solidFill>
                  <a:srgbClr val="0053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 &amp; Fair Play</a:t>
            </a:r>
            <a:endParaRPr lang="en-US" sz="844" dirty="0"/>
          </a:p>
        </p:txBody>
      </p:sp>
      <p:sp>
        <p:nvSpPr>
          <p:cNvPr id="55" name="Text 53"/>
          <p:cNvSpPr/>
          <p:nvPr/>
        </p:nvSpPr>
        <p:spPr>
          <a:xfrm>
            <a:off x="6160257" y="3399867"/>
            <a:ext cx="246213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F314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IP applicable as dummy data sets are used. All work must be original and developed during the hackathon. No sharing of solutions.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0050" y="4514850"/>
            <a:ext cx="8343900" cy="400050"/>
          </a:xfrm>
          <a:prstGeom prst="roundRect">
            <a:avLst>
              <a:gd name="adj" fmla="val 19048"/>
            </a:avLst>
          </a:prstGeom>
          <a:solidFill>
            <a:srgbClr val="0053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696208" y="46362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A6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58" name="Text 56"/>
          <p:cNvSpPr/>
          <p:nvPr/>
        </p:nvSpPr>
        <p:spPr>
          <a:xfrm>
            <a:off x="2939095" y="4629150"/>
            <a:ext cx="56476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Good luck — let's build the 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9" kern="0" dirty="0">
                <a:solidFill>
                  <a:srgbClr val="00A6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Haemophilia Intelligence Radar</a:t>
            </a:r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together.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00050" y="4930973"/>
            <a:ext cx="80447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 GBS Hackathon 2026 · Kick-off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459093" y="4930973"/>
            <a:ext cx="3958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24" kern="0" dirty="0">
                <a:solidFill>
                  <a:srgbClr val="8794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08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2026-08-13T09:52:50Z</dcterms:created>
  <dcterms:modified xsi:type="dcterms:W3CDTF">2026-08-13T09:52:50Z</dcterms:modified>
</cp:coreProperties>
</file>